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1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notesSlides/notesSlide16.xml" ContentType="application/vnd.openxmlformats-officedocument.presentationml.notes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slideMasters/slideMaster2.xml" ContentType="application/vnd.openxmlformats-officedocument.presentationml.slideMaster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  <p:sldMasterId id="214748365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defaultTextStyle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 horzBarState="maximized">
    <p:restoredLeft sz="15611"/>
    <p:restoredTop sz="94610"/>
  </p:normalViewPr>
  <p:slideViewPr>
    <p:cSldViewPr snapToGrid="false" snapToObjects="true">
      <p:cViewPr varScale="true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8.xml" /><Relationship Id="rId8" Type="http://schemas.openxmlformats.org/officeDocument/2006/relationships/slide" Target="slides/slide7.xml" /><Relationship Id="rId4" Type="http://schemas.openxmlformats.org/officeDocument/2006/relationships/slide" Target="slides/slide3.xml" /><Relationship Id="rId7" Type="http://schemas.openxmlformats.org/officeDocument/2006/relationships/slide" Target="slides/slide6.xml" /><Relationship Id="rId25" Type="http://schemas.openxmlformats.org/officeDocument/2006/relationships/viewProps" Target="viewProps.xml" /><Relationship Id="rId23" Type="http://schemas.openxmlformats.org/officeDocument/2006/relationships/presProps" Target="presProps.xml" /><Relationship Id="rId13" Type="http://schemas.openxmlformats.org/officeDocument/2006/relationships/slide" Target="slides/slide12.xml" /><Relationship Id="rId12" Type="http://schemas.openxmlformats.org/officeDocument/2006/relationships/slide" Target="slides/slide11.xml" /><Relationship Id="rId11" Type="http://schemas.openxmlformats.org/officeDocument/2006/relationships/slide" Target="slides/slide10.xml" /><Relationship Id="rId10" Type="http://schemas.openxmlformats.org/officeDocument/2006/relationships/slide" Target="slides/slide9.xml" /><Relationship Id="rId6" Type="http://schemas.openxmlformats.org/officeDocument/2006/relationships/slide" Target="slides/slide5.xml" /><Relationship Id="rId16" Type="http://schemas.openxmlformats.org/officeDocument/2006/relationships/slide" Target="slides/slide15.xml" /><Relationship Id="rId1" Type="http://schemas.openxmlformats.org/officeDocument/2006/relationships/slideMaster" Target="slideMasters/slideMaster2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slide" Target="slides/slide16.xml" /><Relationship Id="rId24" Type="http://schemas.openxmlformats.org/officeDocument/2006/relationships/tableStyles" Target="tableStyles.xml" /><Relationship Id="rId18" Type="http://schemas.openxmlformats.org/officeDocument/2006/relationships/slide" Target="slides/slide17.xml" /><Relationship Id="rId5" Type="http://schemas.openxmlformats.org/officeDocument/2006/relationships/slide" Target="slides/slide4.xml" /><Relationship Id="rId19" Type="http://schemas.openxmlformats.org/officeDocument/2006/relationships/slide" Target="slides/slide18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20" Type="http://schemas.openxmlformats.org/officeDocument/2006/relationships/slide" Target="slides/slide19.xml" /><Relationship Id="rId22" Type="http://schemas.openxmlformats.org/officeDocument/2006/relationships/notesMaster" Target="notesMasters/notesMaster1.xml" /><Relationship Id="rId21" Type="http://schemas.openxmlformats.org/officeDocument/2006/relationships/slide" Target="slides/slide2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1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1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3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3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5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5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6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6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6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7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false"/>
              <a:t>https://claude.site/artifacts/cc296fb2-28ca-4467-b912-e9e9c6a2b8f6</a:t>
            </a:r>
            <a:endParaRPr lang="en-US" dirty="false"/>
          </a:p>
        </p:txBody>
      </p:sp>
      <p:sp>
        <p:nvSpPr>
          <p:cNvPr id="7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false"/>
              <a:t>https://claude.site/artifacts/cc296fb2-28ca-4467-b912-e9e9c6a2b8f6</a:t>
            </a:r>
            <a:endParaRPr lang="en-US" dirty="false"/>
          </a:p>
        </p:txBody>
      </p:sp>
      <p:sp>
        <p:nvSpPr>
          <p:cNvPr id="8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 /><Relationship Id="rId0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false" hdr="false" ftr="false" dt="false"/>
  <p:txStyles>
    <p:titleStyle>
      <a:lvl1pPr algn="ctr" defTabSz="9144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0"/>
  </p:sldLayoutIdLst>
  <p:hf sldNum="false" hdr="false" ftr="false" dt="false"/>
  <p:txStyles>
    <p:titleStyle>
      <a:lvl1pPr algn="ctr" defTabSz="9144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6" Type="http://schemas.openxmlformats.org/officeDocument/2006/relationships/image" Target="media/image20.png" /><Relationship Id="rId1" Type="http://schemas.openxmlformats.org/officeDocument/2006/relationships/notesSlide" Target="../notesSlides/notesSlide11.xml" /><Relationship Id="rId3" Type="http://schemas.openxmlformats.org/officeDocument/2006/relationships/image" Target="media/image19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8.png" /><Relationship Id="rId4" Type="http://schemas.openxmlformats.org/officeDocument/2006/relationships/hyperlink" Target="https://gamma.app" TargetMode="External"/><Relationship Id="rId5" Type="http://schemas.openxmlformats.org/officeDocument/2006/relationships/image" Target="media/image4.pn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3" Type="http://schemas.openxmlformats.org/officeDocument/2006/relationships/image" Target="media/image4.png" /><Relationship Id="rId0" Type="http://schemas.openxmlformats.org/officeDocument/2006/relationships/slideLayout" Target="../slideLayouts/slideLayout2.xml" /><Relationship Id="rId2" Type="http://schemas.openxmlformats.org/officeDocument/2006/relationships/hyperlink" Target="https://gamma.app" TargetMode="External"/><Relationship Id="rId6" Type="http://schemas.openxmlformats.org/officeDocument/2006/relationships/image" Target="media/image25.png" /><Relationship Id="rId5" Type="http://schemas.openxmlformats.org/officeDocument/2006/relationships/image" Target="media/image24.png" /><Relationship Id="rId4" Type="http://schemas.openxmlformats.org/officeDocument/2006/relationships/image" Target="media/image23.png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26.png" /><Relationship Id="rId4" Type="http://schemas.openxmlformats.org/officeDocument/2006/relationships/image" Target="media/image4.png" /><Relationship Id="rId3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5.xml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20.png" /><Relationship Id="rId2" Type="http://schemas.openxmlformats.org/officeDocument/2006/relationships/image" Target="media/image27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6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4.png" /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7.xml" /></Relationships>
</file>

<file path=ppt/slides/_rels/slide6.xml.rels><?xml version="1.0" encoding="UTF-8" standalone="yes"?><Relationships xmlns="http://schemas.openxmlformats.org/package/2006/relationships"><Relationship Id="rId4" Type="http://schemas.openxmlformats.org/officeDocument/2006/relationships/image" Target="media/image28.png" /><Relationship Id="rId3" Type="http://schemas.openxmlformats.org/officeDocument/2006/relationships/image" Target="media/image4.png" /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8.xml" /></Relationships>
</file>

<file path=ppt/slides/_rels/slide7.xml.rels><?xml version="1.0" encoding="UTF-8" standalone="yes"?><Relationships xmlns="http://schemas.openxmlformats.org/package/2006/relationships"><Relationship Id="rId5" Type="http://schemas.openxmlformats.org/officeDocument/2006/relationships/image" Target="media/image30.png" /><Relationship Id="rId4" Type="http://schemas.openxmlformats.org/officeDocument/2006/relationships/image" Target="media/image29.png" /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2.xml" /><Relationship Id="rId3" Type="http://schemas.openxmlformats.org/officeDocument/2006/relationships/image" Target="media/image4.png" /><Relationship Id="rId1" Type="http://schemas.openxmlformats.org/officeDocument/2006/relationships/notesSlide" Target="../notesSlides/notesSlide19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2.xml" /><Relationship Id="rId3" Type="http://schemas.openxmlformats.org/officeDocument/2006/relationships/image" Target="media/image4.png" /><Relationship Id="rId1" Type="http://schemas.openxmlformats.org/officeDocument/2006/relationships/notesSlide" Target="../notesSlides/notesSlide20.xml" /></Relationships>
</file>

<file path=ppt/slides/_rels/slide9.xml.rels><?xml version="1.0" encoding="UTF-8" standalone="yes"?><Relationships xmlns="http://schemas.openxmlformats.org/package/2006/relationships"><Relationship Id="rId6" Type="http://schemas.openxmlformats.org/officeDocument/2006/relationships/image" Target="media/image4.png" /><Relationship Id="rId0" Type="http://schemas.openxmlformats.org/officeDocument/2006/relationships/slideLayout" Target="../slideLayouts/slideLayout1.xml" /><Relationship Id="rId7" Type="http://schemas.openxmlformats.org/officeDocument/2006/relationships/image" Target="media/image5.png" /><Relationship Id="rId5" Type="http://schemas.openxmlformats.org/officeDocument/2006/relationships/hyperlink" Target="https://gamma.app" TargetMode="External"/><Relationship Id="rId2" Type="http://schemas.openxmlformats.org/officeDocument/2006/relationships/image" Target="media/image1.png" /><Relationship Id="rId1" Type="http://schemas.openxmlformats.org/officeDocument/2006/relationships/notesSlide" Target="../notesSlides/notesSlide1.xml" /><Relationship Id="rId4" Type="http://schemas.openxmlformats.org/officeDocument/2006/relationships/image" Target="media/image3.png" /><Relationship Id="rId3" Type="http://schemas.openxmlformats.org/officeDocument/2006/relationships/image" Target="media/image2.png" /></Relationships>
</file>

<file path=ppt/slides/_rels/slide10.xml.rels><?xml version="1.0" encoding="UTF-8" standalone="yes"?><Relationships xmlns="http://schemas.openxmlformats.org/package/2006/relationships"><Relationship Id="rId4" Type="http://schemas.openxmlformats.org/officeDocument/2006/relationships/image" Target="media/image6.png" /><Relationship Id="rId3" Type="http://schemas.openxmlformats.org/officeDocument/2006/relationships/image" Target="media/image4.png" /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media/image4.png" /><Relationship Id="rId0" Type="http://schemas.openxmlformats.org/officeDocument/2006/relationships/slideLayout" Target="../slideLayouts/slideLayout1.xml" /><Relationship Id="rId2" Type="http://schemas.openxmlformats.org/officeDocument/2006/relationships/hyperlink" Target="https://gamma.app" TargetMode="External"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media/image4.png" /><Relationship Id="rId4" Type="http://schemas.openxmlformats.org/officeDocument/2006/relationships/image" Target="media/image7.png" /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4" Type="http://schemas.openxmlformats.org/officeDocument/2006/relationships/image" Target="media/image8.png" /><Relationship Id="rId3" Type="http://schemas.openxmlformats.org/officeDocument/2006/relationships/image" Target="media/image4.png" /><Relationship Id="rId2" Type="http://schemas.openxmlformats.org/officeDocument/2006/relationships/hyperlink" Target="https://gamma.app" TargetMode="External"/><Relationship Id="rId5" Type="http://schemas.openxmlformats.org/officeDocument/2006/relationships/image" Target="media/image9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5.xml" /></Relationships>
</file>

<file path=ppt/slides/_rels/slide14.xml.rels><?xml version="1.0" encoding="UTF-8" standalone="yes"?><Relationships xmlns="http://schemas.openxmlformats.org/package/2006/relationships"><Relationship Id="rId4" Type="http://schemas.openxmlformats.org/officeDocument/2006/relationships/image" Target="media/image10.png" /><Relationship Id="rId3" Type="http://schemas.openxmlformats.org/officeDocument/2006/relationships/image" Target="media/image4.png" /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6.xml" 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4.png" /><Relationship Id="rId2" Type="http://schemas.openxmlformats.org/officeDocument/2006/relationships/image" Target="media/image11.png" /><Relationship Id="rId1" Type="http://schemas.openxmlformats.org/officeDocument/2006/relationships/notesSlide" Target="../notesSlides/notesSlide7.xml" /></Relationships>
</file>

<file path=ppt/slides/_rels/slide16.xml.rels><?xml version="1.0" encoding="UTF-8" standalone="yes"?><Relationships xmlns="http://schemas.openxmlformats.org/package/2006/relationships"><Relationship Id="rId4" Type="http://schemas.openxmlformats.org/officeDocument/2006/relationships/image" Target="media/image12.png" /><Relationship Id="rId3" Type="http://schemas.openxmlformats.org/officeDocument/2006/relationships/image" Target="media/image4.png" /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8.xml" /></Relationships>
</file>

<file path=ppt/slides/_rels/slide17.xml.rels><?xml version="1.0" encoding="UTF-8" standalone="yes"?><Relationships xmlns="http://schemas.openxmlformats.org/package/2006/relationships"><Relationship Id="rId4" Type="http://schemas.openxmlformats.org/officeDocument/2006/relationships/image" Target="media/image13.png" /><Relationship Id="rId3" Type="http://schemas.openxmlformats.org/officeDocument/2006/relationships/image" Target="media/image4.png" /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6" Type="http://schemas.openxmlformats.org/officeDocument/2006/relationships/image" Target="media/image4.png" /><Relationship Id="rId1" Type="http://schemas.openxmlformats.org/officeDocument/2006/relationships/notesSlide" Target="../notesSlides/notesSlide10.xml" /><Relationship Id="rId7" Type="http://schemas.openxmlformats.org/officeDocument/2006/relationships/image" Target="media/image17.png" /><Relationship Id="rId2" Type="http://schemas.openxmlformats.org/officeDocument/2006/relationships/image" Target="media/image14.png" /><Relationship Id="rId0" Type="http://schemas.openxmlformats.org/officeDocument/2006/relationships/slideLayout" Target="../slideLayouts/slideLayout1.xml" /><Relationship Id="rId5" Type="http://schemas.openxmlformats.org/officeDocument/2006/relationships/hyperlink" Target="https://gamma.app" TargetMode="External"/><Relationship Id="rId3" Type="http://schemas.openxmlformats.org/officeDocument/2006/relationships/image" Target="media/image15.png" /><Relationship Id="rId4" Type="http://schemas.openxmlformats.org/officeDocument/2006/relationships/image" Target="media/image16.png" /></Relationships>
</file>

<file path=ppt/slides/_rels/slide19.xml.rels><?xml version="1.0" encoding="UTF-8" standalone="yes"?><Relationships xmlns="http://schemas.openxmlformats.org/package/2006/relationships"><Relationship Id="rId8" Type="http://schemas.openxmlformats.org/officeDocument/2006/relationships/image" Target="media/image22.png" /><Relationship Id="rId7" Type="http://schemas.openxmlformats.org/officeDocument/2006/relationships/image" Target="media/image21.png" /><Relationship Id="rId6" Type="http://schemas.openxmlformats.org/officeDocument/2006/relationships/image" Target="media/image4.png" /><Relationship Id="rId1" Type="http://schemas.openxmlformats.org/officeDocument/2006/relationships/notesSlide" Target="../notesSlides/notesSlide12.xml" /><Relationship Id="rId2" Type="http://schemas.openxmlformats.org/officeDocument/2006/relationships/image" Target="media/image14.png" /><Relationship Id="rId5" Type="http://schemas.openxmlformats.org/officeDocument/2006/relationships/hyperlink" Target="https://gamma.app" TargetMode="External"/><Relationship Id="rId3" Type="http://schemas.openxmlformats.org/officeDocument/2006/relationships/image" Target="media/image15.png" /><Relationship Id="rId0" Type="http://schemas.openxmlformats.org/officeDocument/2006/relationships/slideLayout" Target="../slideLayouts/slideLayout2.xml" /><Relationship Id="rId4" Type="http://schemas.openxmlformats.org/officeDocument/2006/relationships/image" Target="media/image16.png" /></Relationships>
</file>

<file path=ppt/slides/_rels/slide20.xml.rels><?xml version="1.0" encoding="UTF-8" standalone="yes"?><Relationships xmlns="http://schemas.openxmlformats.org/package/2006/relationships"><Relationship Id="rId3" Type="http://schemas.openxmlformats.org/officeDocument/2006/relationships/image" Target="media/image4.png" /><Relationship Id="rId2" Type="http://schemas.openxmlformats.org/officeDocument/2006/relationships/hyperlink" Target="https://gamma.app" TargetMode="External"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3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16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pic>
        <p:nvPicPr>
          <p:cNvPr id="168" name="Image 0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69" name="Text 2"/>
          <p:cNvSpPr/>
          <p:nvPr/>
        </p:nvSpPr>
        <p:spPr>
          <a:xfrm>
            <a:off x="864235" y="2115185"/>
            <a:ext cx="8279765" cy="2129155"/>
          </a:xfrm>
          <a:prstGeom prst="rect">
            <a:avLst/>
          </a:prstGeom>
          <a:noFill/>
        </p:spPr>
        <p:txBody>
          <a:bodyPr wrap="square" rtlCol="false" anchor="t"/>
          <a:lstStyle/>
          <a:p>
            <a:pPr marL="0" indent="0">
              <a:lnSpc>
                <a:spcPts val="8385"/>
              </a:lnSpc>
              <a:buNone/>
            </a:pPr>
            <a:r>
              <a:rPr lang="en-US" sz="670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AI</a:t>
            </a:r>
            <a:r>
              <a:rPr lang="zh-CN" altLang="en-US" sz="670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加持，</a:t>
            </a:r>
            <a:endParaRPr lang="zh-CN" altLang="en-US" sz="6705" b="true" dirty="false">
              <a:solidFill>
                <a:srgbClr val="443728"/>
              </a:solidFill>
              <a:latin typeface="Crimson Pro" pitchFamily="34" charset="0"/>
              <a:ea typeface="Crimson Pro" pitchFamily="34" charset="-122"/>
              <a:cs typeface="Crimson Pro" pitchFamily="34" charset="-120"/>
            </a:endParaRPr>
          </a:p>
          <a:p>
            <a:pPr marL="0" indent="0">
              <a:lnSpc>
                <a:spcPts val="8385"/>
              </a:lnSpc>
              <a:buNone/>
            </a:pPr>
            <a:r>
              <a:rPr lang="en-US" sz="670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一天做一个小应用</a:t>
            </a:r>
            <a:endParaRPr lang="en-US" sz="6705" dirty="false"/>
          </a:p>
        </p:txBody>
      </p:sp>
      <p:sp>
        <p:nvSpPr>
          <p:cNvPr id="170" name="Text 3"/>
          <p:cNvSpPr/>
          <p:nvPr/>
        </p:nvSpPr>
        <p:spPr>
          <a:xfrm>
            <a:off x="864037" y="4614743"/>
            <a:ext cx="7415927" cy="790099"/>
          </a:xfrm>
          <a:prstGeom prst="rect">
            <a:avLst/>
          </a:prstGeom>
          <a:noFill/>
        </p:spPr>
        <p:txBody>
          <a:bodyPr wrap="squar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让AI帮你生成专属海报！点击链接使用可编辑海报生成器。通过AI写海报，我们将一步步讲解如何在一天内创建AI小应用。</a:t>
            </a:r>
            <a:endParaRPr lang="en-US" sz="1945" dirty="false"/>
          </a:p>
        </p:txBody>
      </p:sp>
      <p:sp>
        <p:nvSpPr>
          <p:cNvPr id="171" name="Shape 4"/>
          <p:cNvSpPr/>
          <p:nvPr/>
        </p:nvSpPr>
        <p:spPr>
          <a:xfrm>
            <a:off x="864037" y="5700951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2" name="Image 1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57" y="5813346"/>
            <a:ext cx="379690" cy="379690"/>
          </a:xfrm>
          <a:prstGeom prst="rect">
            <a:avLst/>
          </a:prstGeom>
        </p:spPr>
      </p:pic>
      <p:sp>
        <p:nvSpPr>
          <p:cNvPr id="173" name="Text 5"/>
          <p:cNvSpPr/>
          <p:nvPr/>
        </p:nvSpPr>
        <p:spPr>
          <a:xfrm>
            <a:off x="1382316" y="5682496"/>
            <a:ext cx="1466374" cy="43195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</a:t>
            </a:r>
            <a:r>
              <a:rPr lang="zh-CN" altLang="en-US" sz="2430" b="true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白朋飞</a:t>
            </a:r>
            <a:r>
              <a:rPr lang="en-US" altLang="zh-CN" sz="2430" b="true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@</a:t>
            </a:r>
            <a:endParaRPr lang="en-US" altLang="zh-CN" sz="2430" b="true" dirty="false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174" name="Image 2" descr="preencoded.png">
            <a:hlinkClick r:id="rId4"/>
          </p:cNvPr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175" name="Text 5"/>
          <p:cNvSpPr/>
          <p:nvPr/>
        </p:nvSpPr>
        <p:spPr>
          <a:xfrm>
            <a:off x="1341676" y="6270506"/>
            <a:ext cx="1466374" cy="431959"/>
          </a:xfrm>
          <a:prstGeom prst="rect">
            <a:avLst/>
          </a:prstGeom>
          <a:noFill/>
        </p:spPr>
        <p:txBody>
          <a:bodyPr wrap="none" rtlCol="false" anchor="t"/>
          <a:p>
            <a:pPr marL="0" indent="0" algn="l">
              <a:lnSpc>
                <a:spcPts val="3400"/>
              </a:lnSpc>
              <a:buNone/>
            </a:pPr>
            <a:r>
              <a:rPr lang="zh-CN" altLang="en-US" sz="2430" b="true" dirty="false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预计一小时</a:t>
            </a:r>
            <a:endParaRPr lang="zh-CN" altLang="en-US" sz="2430" b="true" dirty="false">
              <a:solidFill>
                <a:srgbClr val="FF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176" name="图片 23" descr="fiit_ai_lowercase_colored_text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5509895"/>
            <a:ext cx="30289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19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195" name="Shape 4"/>
          <p:cNvSpPr/>
          <p:nvPr/>
        </p:nvSpPr>
        <p:spPr>
          <a:xfrm>
            <a:off x="864037" y="5700951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96" name="Image 2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97" name="图片 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65" y="2200910"/>
            <a:ext cx="4784090" cy="2907030"/>
          </a:xfrm>
          <a:prstGeom prst="rect">
            <a:avLst/>
          </a:prstGeom>
        </p:spPr>
      </p:pic>
      <p:pic>
        <p:nvPicPr>
          <p:cNvPr id="198" name="图片 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315" y="2439670"/>
            <a:ext cx="4339590" cy="2430145"/>
          </a:xfrm>
          <a:prstGeom prst="rect">
            <a:avLst/>
          </a:prstGeom>
        </p:spPr>
      </p:pic>
      <p:pic>
        <p:nvPicPr>
          <p:cNvPr id="199" name="图片 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165" y="2439670"/>
            <a:ext cx="4650105" cy="2430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202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pic>
        <p:nvPicPr>
          <p:cNvPr id="203" name="Image 0" descr="/Users/botbotbot/Downloads/quanse/ai/AI 会议分享/20240811 燕园叶话/WechatIMG1309.jpgWechatIMG1309"/>
          <p:cNvPicPr>
            <a:picLocks noChangeAspect="true"/>
          </p:cNvPicPr>
          <p:nvPr/>
        </p:nvPicPr>
        <p:blipFill>
          <a:blip r:embed="rId2"/>
          <a:srcRect t="15341" b="1534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204" name="Text 2"/>
          <p:cNvSpPr/>
          <p:nvPr/>
        </p:nvSpPr>
        <p:spPr>
          <a:xfrm>
            <a:off x="6350437" y="1163241"/>
            <a:ext cx="6172200" cy="77152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项目灵感来源</a:t>
            </a:r>
            <a:endParaRPr lang="en-US" sz="4860" dirty="false"/>
          </a:p>
        </p:txBody>
      </p:sp>
      <p:sp>
        <p:nvSpPr>
          <p:cNvPr id="205" name="Shape 3"/>
          <p:cNvSpPr/>
          <p:nvPr/>
        </p:nvSpPr>
        <p:spPr>
          <a:xfrm>
            <a:off x="6705481" y="2305050"/>
            <a:ext cx="30480" cy="4761309"/>
          </a:xfrm>
          <a:prstGeom prst="roundRect">
            <a:avLst>
              <a:gd name="adj" fmla="val 340200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206" name="Shape 4"/>
          <p:cNvSpPr/>
          <p:nvPr/>
        </p:nvSpPr>
        <p:spPr>
          <a:xfrm>
            <a:off x="6967954" y="2845118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207" name="Shape 5"/>
          <p:cNvSpPr/>
          <p:nvPr/>
        </p:nvSpPr>
        <p:spPr>
          <a:xfrm>
            <a:off x="6443008" y="258270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08" name="Text 6"/>
          <p:cNvSpPr/>
          <p:nvPr/>
        </p:nvSpPr>
        <p:spPr>
          <a:xfrm>
            <a:off x="6651367" y="2675215"/>
            <a:ext cx="138589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1</a:t>
            </a:r>
            <a:endParaRPr lang="en-US" sz="2915" dirty="false"/>
          </a:p>
        </p:txBody>
      </p:sp>
      <p:sp>
        <p:nvSpPr>
          <p:cNvPr id="209" name="Text 7"/>
          <p:cNvSpPr/>
          <p:nvPr/>
        </p:nvSpPr>
        <p:spPr>
          <a:xfrm>
            <a:off x="8078510" y="2551867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发现灵感</a:t>
            </a:r>
            <a:endParaRPr lang="en-US" sz="2430" dirty="false"/>
          </a:p>
        </p:txBody>
      </p:sp>
      <p:sp>
        <p:nvSpPr>
          <p:cNvPr id="210" name="Text 8"/>
          <p:cNvSpPr/>
          <p:nvPr/>
        </p:nvSpPr>
        <p:spPr>
          <a:xfrm>
            <a:off x="8078510" y="3085743"/>
            <a:ext cx="568785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在网上看到@哥飞发布的漂亮海报图片。</a:t>
            </a:r>
            <a:endParaRPr lang="en-US" sz="1945" dirty="false"/>
          </a:p>
        </p:txBody>
      </p:sp>
      <p:sp>
        <p:nvSpPr>
          <p:cNvPr id="211" name="Shape 9"/>
          <p:cNvSpPr/>
          <p:nvPr/>
        </p:nvSpPr>
        <p:spPr>
          <a:xfrm>
            <a:off x="6967954" y="4514493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212" name="Shape 10"/>
          <p:cNvSpPr/>
          <p:nvPr/>
        </p:nvSpPr>
        <p:spPr>
          <a:xfrm>
            <a:off x="6443008" y="425207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13" name="Text 11"/>
          <p:cNvSpPr/>
          <p:nvPr/>
        </p:nvSpPr>
        <p:spPr>
          <a:xfrm>
            <a:off x="6626245" y="4344591"/>
            <a:ext cx="188833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2</a:t>
            </a:r>
            <a:endParaRPr lang="en-US" sz="2915" dirty="false"/>
          </a:p>
        </p:txBody>
      </p:sp>
      <p:sp>
        <p:nvSpPr>
          <p:cNvPr id="214" name="Text 12"/>
          <p:cNvSpPr/>
          <p:nvPr/>
        </p:nvSpPr>
        <p:spPr>
          <a:xfrm>
            <a:off x="8078510" y="4221242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产生想法</a:t>
            </a:r>
            <a:endParaRPr lang="en-US" sz="2430" dirty="false"/>
          </a:p>
        </p:txBody>
      </p:sp>
      <p:sp>
        <p:nvSpPr>
          <p:cNvPr id="215" name="Text 13"/>
          <p:cNvSpPr/>
          <p:nvPr/>
        </p:nvSpPr>
        <p:spPr>
          <a:xfrm>
            <a:off x="8078510" y="4755118"/>
            <a:ext cx="568785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思考让AI编程复刻海报，并实现文案动态调整。</a:t>
            </a:r>
            <a:endParaRPr lang="en-US" sz="1945" dirty="false"/>
          </a:p>
        </p:txBody>
      </p:sp>
      <p:sp>
        <p:nvSpPr>
          <p:cNvPr id="216" name="Shape 14"/>
          <p:cNvSpPr/>
          <p:nvPr/>
        </p:nvSpPr>
        <p:spPr>
          <a:xfrm>
            <a:off x="6967954" y="6183868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217" name="Shape 15"/>
          <p:cNvSpPr/>
          <p:nvPr/>
        </p:nvSpPr>
        <p:spPr>
          <a:xfrm>
            <a:off x="6443008" y="592145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18" name="Text 16"/>
          <p:cNvSpPr/>
          <p:nvPr/>
        </p:nvSpPr>
        <p:spPr>
          <a:xfrm>
            <a:off x="6630293" y="6013966"/>
            <a:ext cx="180856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3</a:t>
            </a:r>
            <a:endParaRPr lang="en-US" sz="2915" dirty="false"/>
          </a:p>
        </p:txBody>
      </p:sp>
      <p:sp>
        <p:nvSpPr>
          <p:cNvPr id="219" name="Text 17"/>
          <p:cNvSpPr/>
          <p:nvPr/>
        </p:nvSpPr>
        <p:spPr>
          <a:xfrm>
            <a:off x="8078510" y="5890617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付诸行动</a:t>
            </a:r>
            <a:endParaRPr lang="en-US" sz="2430" dirty="false"/>
          </a:p>
        </p:txBody>
      </p:sp>
      <p:sp>
        <p:nvSpPr>
          <p:cNvPr id="220" name="Text 18"/>
          <p:cNvSpPr/>
          <p:nvPr/>
        </p:nvSpPr>
        <p:spPr>
          <a:xfrm>
            <a:off x="8078510" y="6424493"/>
            <a:ext cx="568785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决定立即开始项目实施。</a:t>
            </a:r>
            <a:endParaRPr lang="en-US" sz="1945" dirty="false"/>
          </a:p>
        </p:txBody>
      </p:sp>
      <p:pic>
        <p:nvPicPr>
          <p:cNvPr id="221" name="Image 1" descr="preencoded.png">
            <a:hlinkClick r:id="rId3"/>
          </p:cNvPr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图片 2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50" y="1733550"/>
            <a:ext cx="4762500" cy="4762500"/>
          </a:xfrm>
          <a:prstGeom prst="rect">
            <a:avLst/>
          </a:prstGeom>
        </p:spPr>
      </p:pic>
      <p:pic>
        <p:nvPicPr>
          <p:cNvPr id="224" name="图片 23" descr="fiit_ai_lowercase_colored_text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25" y="610870"/>
            <a:ext cx="30289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22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228" name="Text 2"/>
          <p:cNvSpPr/>
          <p:nvPr/>
        </p:nvSpPr>
        <p:spPr>
          <a:xfrm>
            <a:off x="6350437" y="1487210"/>
            <a:ext cx="6172200" cy="77152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初步复刻海报</a:t>
            </a:r>
            <a:endParaRPr lang="en-US" sz="4860" dirty="false"/>
          </a:p>
        </p:txBody>
      </p:sp>
      <p:sp>
        <p:nvSpPr>
          <p:cNvPr id="229" name="Shape 3"/>
          <p:cNvSpPr/>
          <p:nvPr/>
        </p:nvSpPr>
        <p:spPr>
          <a:xfrm>
            <a:off x="6350437" y="290667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30" name="Text 4"/>
          <p:cNvSpPr/>
          <p:nvPr/>
        </p:nvSpPr>
        <p:spPr>
          <a:xfrm>
            <a:off x="6558796" y="2999184"/>
            <a:ext cx="138589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1</a:t>
            </a:r>
            <a:endParaRPr lang="en-US" sz="2915" dirty="false"/>
          </a:p>
        </p:txBody>
      </p:sp>
      <p:sp>
        <p:nvSpPr>
          <p:cNvPr id="231" name="Text 5"/>
          <p:cNvSpPr/>
          <p:nvPr/>
        </p:nvSpPr>
        <p:spPr>
          <a:xfrm>
            <a:off x="7152680" y="2906673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上传图片</a:t>
            </a:r>
            <a:endParaRPr lang="en-US" sz="2430" dirty="false"/>
          </a:p>
        </p:txBody>
      </p:sp>
      <p:sp>
        <p:nvSpPr>
          <p:cNvPr id="232" name="Text 6"/>
          <p:cNvSpPr/>
          <p:nvPr/>
        </p:nvSpPr>
        <p:spPr>
          <a:xfrm>
            <a:off x="7152680" y="3440549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将海报图片上传到Claude AI。</a:t>
            </a:r>
            <a:endParaRPr lang="en-US" sz="1945" dirty="false"/>
          </a:p>
        </p:txBody>
      </p:sp>
      <p:sp>
        <p:nvSpPr>
          <p:cNvPr id="233" name="Shape 7"/>
          <p:cNvSpPr/>
          <p:nvPr/>
        </p:nvSpPr>
        <p:spPr>
          <a:xfrm>
            <a:off x="6350437" y="43600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34" name="Text 8"/>
          <p:cNvSpPr/>
          <p:nvPr/>
        </p:nvSpPr>
        <p:spPr>
          <a:xfrm>
            <a:off x="6533674" y="4452580"/>
            <a:ext cx="188833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2</a:t>
            </a:r>
            <a:endParaRPr lang="en-US" sz="2915" dirty="false"/>
          </a:p>
        </p:txBody>
      </p:sp>
      <p:sp>
        <p:nvSpPr>
          <p:cNvPr id="235" name="Text 9"/>
          <p:cNvSpPr/>
          <p:nvPr/>
        </p:nvSpPr>
        <p:spPr>
          <a:xfrm>
            <a:off x="7152680" y="436006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生成代码</a:t>
            </a:r>
            <a:endParaRPr lang="en-US" sz="2430" dirty="false"/>
          </a:p>
        </p:txBody>
      </p:sp>
      <p:sp>
        <p:nvSpPr>
          <p:cNvPr id="236" name="Text 10"/>
          <p:cNvSpPr/>
          <p:nvPr/>
        </p:nvSpPr>
        <p:spPr>
          <a:xfrm>
            <a:off x="7152680" y="4893945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提示AI生成HTML代码，保持背景颜色和文字布局。</a:t>
            </a:r>
            <a:endParaRPr lang="en-US" sz="1945" dirty="false"/>
          </a:p>
        </p:txBody>
      </p:sp>
      <p:sp>
        <p:nvSpPr>
          <p:cNvPr id="237" name="Shape 11"/>
          <p:cNvSpPr/>
          <p:nvPr/>
        </p:nvSpPr>
        <p:spPr>
          <a:xfrm>
            <a:off x="6350437" y="581346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38" name="Text 12"/>
          <p:cNvSpPr/>
          <p:nvPr/>
        </p:nvSpPr>
        <p:spPr>
          <a:xfrm>
            <a:off x="6537722" y="5905976"/>
            <a:ext cx="180856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3</a:t>
            </a:r>
            <a:endParaRPr lang="en-US" sz="2915" dirty="false"/>
          </a:p>
        </p:txBody>
      </p:sp>
      <p:sp>
        <p:nvSpPr>
          <p:cNvPr id="239" name="Text 13"/>
          <p:cNvSpPr/>
          <p:nvPr/>
        </p:nvSpPr>
        <p:spPr>
          <a:xfrm>
            <a:off x="7152680" y="5813465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发现问题</a:t>
            </a:r>
            <a:endParaRPr lang="en-US" sz="2430" dirty="false"/>
          </a:p>
        </p:txBody>
      </p:sp>
      <p:sp>
        <p:nvSpPr>
          <p:cNvPr id="240" name="Text 14"/>
          <p:cNvSpPr/>
          <p:nvPr/>
        </p:nvSpPr>
        <p:spPr>
          <a:xfrm>
            <a:off x="7152680" y="6347341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字体、位置和背景质感需要调整。</a:t>
            </a:r>
            <a:endParaRPr lang="en-US" sz="1945" dirty="false"/>
          </a:p>
        </p:txBody>
      </p:sp>
      <p:pic>
        <p:nvPicPr>
          <p:cNvPr id="241" name="Image 1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24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245" name="Text 2"/>
          <p:cNvSpPr/>
          <p:nvPr/>
        </p:nvSpPr>
        <p:spPr>
          <a:xfrm>
            <a:off x="6350437" y="1487210"/>
            <a:ext cx="6172200" cy="77152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初步复刻海报</a:t>
            </a:r>
            <a:endParaRPr lang="en-US" sz="4860" dirty="false"/>
          </a:p>
        </p:txBody>
      </p:sp>
      <p:sp>
        <p:nvSpPr>
          <p:cNvPr id="246" name="Shape 3"/>
          <p:cNvSpPr/>
          <p:nvPr/>
        </p:nvSpPr>
        <p:spPr>
          <a:xfrm>
            <a:off x="6350437" y="290667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47" name="Text 4"/>
          <p:cNvSpPr/>
          <p:nvPr/>
        </p:nvSpPr>
        <p:spPr>
          <a:xfrm>
            <a:off x="6558796" y="2999184"/>
            <a:ext cx="138589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1</a:t>
            </a:r>
            <a:endParaRPr lang="en-US" sz="2915" dirty="false"/>
          </a:p>
        </p:txBody>
      </p:sp>
      <p:sp>
        <p:nvSpPr>
          <p:cNvPr id="248" name="Text 5"/>
          <p:cNvSpPr/>
          <p:nvPr/>
        </p:nvSpPr>
        <p:spPr>
          <a:xfrm>
            <a:off x="7152680" y="2906673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上传图片</a:t>
            </a:r>
            <a:endParaRPr lang="en-US" sz="2430" dirty="false"/>
          </a:p>
        </p:txBody>
      </p:sp>
      <p:sp>
        <p:nvSpPr>
          <p:cNvPr id="249" name="Text 6"/>
          <p:cNvSpPr/>
          <p:nvPr/>
        </p:nvSpPr>
        <p:spPr>
          <a:xfrm>
            <a:off x="7152680" y="3440549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将海报图片上传到Claude AI。</a:t>
            </a:r>
            <a:endParaRPr lang="en-US" sz="1945" dirty="false"/>
          </a:p>
        </p:txBody>
      </p:sp>
      <p:sp>
        <p:nvSpPr>
          <p:cNvPr id="250" name="Shape 7"/>
          <p:cNvSpPr/>
          <p:nvPr/>
        </p:nvSpPr>
        <p:spPr>
          <a:xfrm>
            <a:off x="6350437" y="43600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51" name="Text 8"/>
          <p:cNvSpPr/>
          <p:nvPr/>
        </p:nvSpPr>
        <p:spPr>
          <a:xfrm>
            <a:off x="6533674" y="4452580"/>
            <a:ext cx="188833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2</a:t>
            </a:r>
            <a:endParaRPr lang="en-US" sz="2915" dirty="false"/>
          </a:p>
        </p:txBody>
      </p:sp>
      <p:sp>
        <p:nvSpPr>
          <p:cNvPr id="252" name="Text 9"/>
          <p:cNvSpPr/>
          <p:nvPr/>
        </p:nvSpPr>
        <p:spPr>
          <a:xfrm>
            <a:off x="7152680" y="436006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生成代码</a:t>
            </a:r>
            <a:endParaRPr lang="en-US" sz="2430" dirty="false"/>
          </a:p>
        </p:txBody>
      </p:sp>
      <p:sp>
        <p:nvSpPr>
          <p:cNvPr id="253" name="Text 10"/>
          <p:cNvSpPr/>
          <p:nvPr/>
        </p:nvSpPr>
        <p:spPr>
          <a:xfrm>
            <a:off x="7152680" y="4893945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提示AI生成HTML代码，保持背景颜色和文字布局。</a:t>
            </a:r>
            <a:endParaRPr lang="en-US" sz="1945" dirty="false"/>
          </a:p>
        </p:txBody>
      </p:sp>
      <p:sp>
        <p:nvSpPr>
          <p:cNvPr id="254" name="Shape 11"/>
          <p:cNvSpPr/>
          <p:nvPr/>
        </p:nvSpPr>
        <p:spPr>
          <a:xfrm>
            <a:off x="6350437" y="581346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55" name="Text 12"/>
          <p:cNvSpPr/>
          <p:nvPr/>
        </p:nvSpPr>
        <p:spPr>
          <a:xfrm>
            <a:off x="6537722" y="5905976"/>
            <a:ext cx="180856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3</a:t>
            </a:r>
            <a:endParaRPr lang="en-US" sz="2915" dirty="false"/>
          </a:p>
        </p:txBody>
      </p:sp>
      <p:sp>
        <p:nvSpPr>
          <p:cNvPr id="256" name="Text 13"/>
          <p:cNvSpPr/>
          <p:nvPr/>
        </p:nvSpPr>
        <p:spPr>
          <a:xfrm>
            <a:off x="7152680" y="5813465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发现问题</a:t>
            </a:r>
            <a:endParaRPr lang="en-US" sz="2430" dirty="false"/>
          </a:p>
        </p:txBody>
      </p:sp>
      <p:sp>
        <p:nvSpPr>
          <p:cNvPr id="257" name="Text 14"/>
          <p:cNvSpPr/>
          <p:nvPr/>
        </p:nvSpPr>
        <p:spPr>
          <a:xfrm>
            <a:off x="7152680" y="6347341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字体、位置和背景质感需要调整。</a:t>
            </a:r>
            <a:endParaRPr lang="en-US" sz="1945" dirty="false"/>
          </a:p>
        </p:txBody>
      </p:sp>
      <p:pic>
        <p:nvPicPr>
          <p:cNvPr id="258" name="Image 1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259" name="图片 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75" y="541655"/>
            <a:ext cx="13699490" cy="6821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262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263" name="Text 2"/>
          <p:cNvSpPr/>
          <p:nvPr/>
        </p:nvSpPr>
        <p:spPr>
          <a:xfrm>
            <a:off x="6350437" y="1487210"/>
            <a:ext cx="6172200" cy="77152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初步复刻海报</a:t>
            </a:r>
            <a:endParaRPr lang="en-US" sz="4860" dirty="false"/>
          </a:p>
        </p:txBody>
      </p:sp>
      <p:sp>
        <p:nvSpPr>
          <p:cNvPr id="264" name="Shape 3"/>
          <p:cNvSpPr/>
          <p:nvPr/>
        </p:nvSpPr>
        <p:spPr>
          <a:xfrm>
            <a:off x="6350437" y="290667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65" name="Text 4"/>
          <p:cNvSpPr/>
          <p:nvPr/>
        </p:nvSpPr>
        <p:spPr>
          <a:xfrm>
            <a:off x="6558796" y="2999184"/>
            <a:ext cx="138589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1</a:t>
            </a:r>
            <a:endParaRPr lang="en-US" sz="2915" dirty="false"/>
          </a:p>
        </p:txBody>
      </p:sp>
      <p:sp>
        <p:nvSpPr>
          <p:cNvPr id="266" name="Text 5"/>
          <p:cNvSpPr/>
          <p:nvPr/>
        </p:nvSpPr>
        <p:spPr>
          <a:xfrm>
            <a:off x="7152680" y="2906673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上传图片</a:t>
            </a:r>
            <a:endParaRPr lang="en-US" sz="2430" dirty="false"/>
          </a:p>
        </p:txBody>
      </p:sp>
      <p:sp>
        <p:nvSpPr>
          <p:cNvPr id="267" name="Text 6"/>
          <p:cNvSpPr/>
          <p:nvPr/>
        </p:nvSpPr>
        <p:spPr>
          <a:xfrm>
            <a:off x="7152680" y="3440549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将海报图片上传到Claude AI。</a:t>
            </a:r>
            <a:endParaRPr lang="en-US" sz="1945" dirty="false"/>
          </a:p>
        </p:txBody>
      </p:sp>
      <p:sp>
        <p:nvSpPr>
          <p:cNvPr id="268" name="Shape 7"/>
          <p:cNvSpPr/>
          <p:nvPr/>
        </p:nvSpPr>
        <p:spPr>
          <a:xfrm>
            <a:off x="6350437" y="43600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69" name="Text 8"/>
          <p:cNvSpPr/>
          <p:nvPr/>
        </p:nvSpPr>
        <p:spPr>
          <a:xfrm>
            <a:off x="6533674" y="4452580"/>
            <a:ext cx="188833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2</a:t>
            </a:r>
            <a:endParaRPr lang="en-US" sz="2915" dirty="false"/>
          </a:p>
        </p:txBody>
      </p:sp>
      <p:sp>
        <p:nvSpPr>
          <p:cNvPr id="270" name="Text 9"/>
          <p:cNvSpPr/>
          <p:nvPr/>
        </p:nvSpPr>
        <p:spPr>
          <a:xfrm>
            <a:off x="7152680" y="436006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生成代码</a:t>
            </a:r>
            <a:endParaRPr lang="en-US" sz="2430" dirty="false"/>
          </a:p>
        </p:txBody>
      </p:sp>
      <p:sp>
        <p:nvSpPr>
          <p:cNvPr id="271" name="Text 10"/>
          <p:cNvSpPr/>
          <p:nvPr/>
        </p:nvSpPr>
        <p:spPr>
          <a:xfrm>
            <a:off x="7152680" y="4893945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提示AI生成HTML代码，保持背景颜色和文字布局。</a:t>
            </a:r>
            <a:endParaRPr lang="en-US" sz="1945" dirty="false"/>
          </a:p>
        </p:txBody>
      </p:sp>
      <p:sp>
        <p:nvSpPr>
          <p:cNvPr id="272" name="Shape 11"/>
          <p:cNvSpPr/>
          <p:nvPr/>
        </p:nvSpPr>
        <p:spPr>
          <a:xfrm>
            <a:off x="6350437" y="581346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73" name="Text 12"/>
          <p:cNvSpPr/>
          <p:nvPr/>
        </p:nvSpPr>
        <p:spPr>
          <a:xfrm>
            <a:off x="6537722" y="5905976"/>
            <a:ext cx="180856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3</a:t>
            </a:r>
            <a:endParaRPr lang="en-US" sz="2915" dirty="false"/>
          </a:p>
        </p:txBody>
      </p:sp>
      <p:sp>
        <p:nvSpPr>
          <p:cNvPr id="274" name="Text 13"/>
          <p:cNvSpPr/>
          <p:nvPr/>
        </p:nvSpPr>
        <p:spPr>
          <a:xfrm>
            <a:off x="7152680" y="5813465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发现问题</a:t>
            </a:r>
            <a:endParaRPr lang="en-US" sz="2430" dirty="false"/>
          </a:p>
        </p:txBody>
      </p:sp>
      <p:sp>
        <p:nvSpPr>
          <p:cNvPr id="275" name="Text 14"/>
          <p:cNvSpPr/>
          <p:nvPr/>
        </p:nvSpPr>
        <p:spPr>
          <a:xfrm>
            <a:off x="7152680" y="6347341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字体、位置和背景质感需要调整。</a:t>
            </a:r>
            <a:endParaRPr lang="en-US" sz="1945" dirty="false"/>
          </a:p>
        </p:txBody>
      </p:sp>
      <p:pic>
        <p:nvPicPr>
          <p:cNvPr id="276" name="Image 1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277" name="图片 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225" y="0"/>
            <a:ext cx="7567295" cy="8229600"/>
          </a:xfrm>
          <a:prstGeom prst="rect">
            <a:avLst/>
          </a:prstGeom>
        </p:spPr>
      </p:pic>
      <p:pic>
        <p:nvPicPr>
          <p:cNvPr id="278" name="图片 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81367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281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282" name="Text 2"/>
          <p:cNvSpPr/>
          <p:nvPr/>
        </p:nvSpPr>
        <p:spPr>
          <a:xfrm>
            <a:off x="6350437" y="1487210"/>
            <a:ext cx="6172200" cy="77152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6075"/>
              </a:lnSpc>
              <a:buNone/>
            </a:pPr>
            <a:r>
              <a:rPr lang="zh-CN" alt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二次</a:t>
            </a:r>
            <a:r>
              <a:rPr 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复刻海报</a:t>
            </a:r>
            <a:r>
              <a:rPr lang="zh-CN" alt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（</a:t>
            </a:r>
            <a:r>
              <a:rPr lang="zh-CN" alt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手工）</a:t>
            </a:r>
            <a:endParaRPr lang="zh-CN" altLang="en-US" sz="4860" b="true" dirty="false">
              <a:solidFill>
                <a:srgbClr val="443728"/>
              </a:solidFill>
              <a:latin typeface="Crimson Pro" pitchFamily="34" charset="0"/>
              <a:ea typeface="Crimson Pro" pitchFamily="34" charset="-122"/>
              <a:cs typeface="Crimson Pro" pitchFamily="34" charset="-120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6350437" y="290667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84" name="Text 4"/>
          <p:cNvSpPr/>
          <p:nvPr/>
        </p:nvSpPr>
        <p:spPr>
          <a:xfrm>
            <a:off x="6558796" y="2999184"/>
            <a:ext cx="138589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1</a:t>
            </a:r>
            <a:endParaRPr lang="en-US" sz="2915" dirty="false"/>
          </a:p>
        </p:txBody>
      </p:sp>
      <p:sp>
        <p:nvSpPr>
          <p:cNvPr id="285" name="Text 5"/>
          <p:cNvSpPr/>
          <p:nvPr/>
        </p:nvSpPr>
        <p:spPr>
          <a:xfrm>
            <a:off x="7152680" y="2906673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zh-CN" alt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文字位置</a:t>
            </a:r>
            <a:endParaRPr lang="zh-CN" altLang="en-US" sz="2430" b="true" dirty="false">
              <a:solidFill>
                <a:srgbClr val="443728"/>
              </a:solidFill>
              <a:latin typeface="Crimson Pro" pitchFamily="34" charset="0"/>
              <a:ea typeface="Crimson Pro" pitchFamily="34" charset="-122"/>
              <a:cs typeface="Crimson Pro" pitchFamily="34" charset="-120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7152680" y="3440549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endParaRPr lang="en-US" sz="1945" dirty="false"/>
          </a:p>
        </p:txBody>
      </p:sp>
      <p:sp>
        <p:nvSpPr>
          <p:cNvPr id="287" name="Shape 7"/>
          <p:cNvSpPr/>
          <p:nvPr/>
        </p:nvSpPr>
        <p:spPr>
          <a:xfrm>
            <a:off x="6350437" y="43600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88" name="Text 8"/>
          <p:cNvSpPr/>
          <p:nvPr/>
        </p:nvSpPr>
        <p:spPr>
          <a:xfrm>
            <a:off x="6533674" y="4452580"/>
            <a:ext cx="188833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2</a:t>
            </a:r>
            <a:endParaRPr lang="en-US" sz="2915" dirty="false"/>
          </a:p>
        </p:txBody>
      </p:sp>
      <p:sp>
        <p:nvSpPr>
          <p:cNvPr id="289" name="Text 9"/>
          <p:cNvSpPr/>
          <p:nvPr/>
        </p:nvSpPr>
        <p:spPr>
          <a:xfrm>
            <a:off x="7152680" y="436006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zh-CN" alt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背景色</a:t>
            </a:r>
            <a:endParaRPr lang="zh-CN" altLang="en-US" sz="2430" b="true" dirty="false">
              <a:solidFill>
                <a:srgbClr val="443728"/>
              </a:solidFill>
              <a:latin typeface="Crimson Pro" pitchFamily="34" charset="0"/>
              <a:ea typeface="Crimson Pro" pitchFamily="34" charset="-122"/>
              <a:cs typeface="Crimson Pro" pitchFamily="34" charset="-120"/>
            </a:endParaRPr>
          </a:p>
        </p:txBody>
      </p:sp>
      <p:sp>
        <p:nvSpPr>
          <p:cNvPr id="290" name="Text 10"/>
          <p:cNvSpPr/>
          <p:nvPr/>
        </p:nvSpPr>
        <p:spPr>
          <a:xfrm>
            <a:off x="7152680" y="4893945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提示AI生成HTML代码，保持背景颜色和文字布局。</a:t>
            </a:r>
            <a:endParaRPr lang="en-US" sz="1945" dirty="false"/>
          </a:p>
        </p:txBody>
      </p:sp>
      <p:sp>
        <p:nvSpPr>
          <p:cNvPr id="291" name="Shape 11"/>
          <p:cNvSpPr/>
          <p:nvPr/>
        </p:nvSpPr>
        <p:spPr>
          <a:xfrm>
            <a:off x="6350437" y="581346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92" name="Text 12"/>
          <p:cNvSpPr/>
          <p:nvPr/>
        </p:nvSpPr>
        <p:spPr>
          <a:xfrm>
            <a:off x="6537722" y="5905976"/>
            <a:ext cx="180856" cy="37028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915"/>
              </a:lnSpc>
              <a:buNone/>
            </a:pPr>
            <a:r>
              <a:rPr lang="en-US" sz="291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3</a:t>
            </a:r>
            <a:endParaRPr lang="en-US" sz="2915" dirty="false"/>
          </a:p>
        </p:txBody>
      </p:sp>
      <p:sp>
        <p:nvSpPr>
          <p:cNvPr id="293" name="Text 13"/>
          <p:cNvSpPr/>
          <p:nvPr/>
        </p:nvSpPr>
        <p:spPr>
          <a:xfrm>
            <a:off x="7152680" y="5813465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发现问题</a:t>
            </a:r>
            <a:endParaRPr lang="en-US" sz="2430" dirty="false"/>
          </a:p>
        </p:txBody>
      </p:sp>
      <p:sp>
        <p:nvSpPr>
          <p:cNvPr id="294" name="Text 14"/>
          <p:cNvSpPr/>
          <p:nvPr/>
        </p:nvSpPr>
        <p:spPr>
          <a:xfrm>
            <a:off x="7152680" y="6347341"/>
            <a:ext cx="661368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字体、位置和背景质感需要调整。</a:t>
            </a:r>
            <a:endParaRPr lang="en-US" sz="1945" dirty="false"/>
          </a:p>
        </p:txBody>
      </p:sp>
      <p:pic>
        <p:nvPicPr>
          <p:cNvPr id="295" name="Image 1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330077" y="664488"/>
            <a:ext cx="6027063" cy="753308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5930"/>
              </a:lnSpc>
              <a:buNone/>
            </a:pPr>
            <a:r>
              <a:rPr lang="en-US" sz="474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调整文字位置</a:t>
            </a:r>
            <a:endParaRPr lang="en-US" sz="4745" dirty="false"/>
          </a:p>
        </p:txBody>
      </p:sp>
      <p:pic>
        <p:nvPicPr>
          <p:cNvPr id="5" name="Image 1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077" y="1779389"/>
            <a:ext cx="1205389" cy="19285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97058" y="2020372"/>
            <a:ext cx="3013472" cy="37659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237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分析布局</a:t>
            </a:r>
            <a:endParaRPr lang="en-US" sz="2375" dirty="false"/>
          </a:p>
        </p:txBody>
      </p:sp>
      <p:sp>
        <p:nvSpPr>
          <p:cNvPr id="7" name="Text 4"/>
          <p:cNvSpPr/>
          <p:nvPr/>
        </p:nvSpPr>
        <p:spPr>
          <a:xfrm>
            <a:off x="7897058" y="2541508"/>
            <a:ext cx="5889665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035"/>
              </a:lnSpc>
              <a:buNone/>
            </a:pPr>
            <a:r>
              <a:rPr lang="en-US" sz="190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发现Claude使用CSS定位，以左上角为基准。</a:t>
            </a:r>
            <a:endParaRPr lang="en-US" sz="1900" dirty="false"/>
          </a:p>
        </p:txBody>
      </p:sp>
      <p:pic>
        <p:nvPicPr>
          <p:cNvPr id="8" name="Image 2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077" y="3707963"/>
            <a:ext cx="1205389" cy="19285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97058" y="3948946"/>
            <a:ext cx="3013472" cy="37659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237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逐行调整</a:t>
            </a:r>
            <a:endParaRPr lang="en-US" sz="2375" dirty="false"/>
          </a:p>
        </p:txBody>
      </p:sp>
      <p:sp>
        <p:nvSpPr>
          <p:cNvPr id="10" name="Text 6"/>
          <p:cNvSpPr/>
          <p:nvPr/>
        </p:nvSpPr>
        <p:spPr>
          <a:xfrm>
            <a:off x="7897058" y="4470082"/>
            <a:ext cx="5889665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035"/>
              </a:lnSpc>
              <a:buNone/>
            </a:pPr>
            <a:r>
              <a:rPr lang="en-US" sz="190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通过top和left属性逐个调整每行位置。</a:t>
            </a:r>
            <a:endParaRPr lang="en-US" sz="1900" dirty="false"/>
          </a:p>
        </p:txBody>
      </p:sp>
      <p:pic>
        <p:nvPicPr>
          <p:cNvPr id="11" name="Image 3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077" y="5636538"/>
            <a:ext cx="1205389" cy="19285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97058" y="5877520"/>
            <a:ext cx="3013472" cy="37659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237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完成布局</a:t>
            </a:r>
            <a:endParaRPr lang="en-US" sz="2375" dirty="false"/>
          </a:p>
        </p:txBody>
      </p:sp>
      <p:sp>
        <p:nvSpPr>
          <p:cNvPr id="13" name="Text 8"/>
          <p:cNvSpPr/>
          <p:nvPr/>
        </p:nvSpPr>
        <p:spPr>
          <a:xfrm>
            <a:off x="7897058" y="6398657"/>
            <a:ext cx="5889665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3035"/>
              </a:lnSpc>
              <a:buNone/>
            </a:pPr>
            <a:r>
              <a:rPr lang="en-US" sz="190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耗费一些时间，最终成功调整文字位置。</a:t>
            </a:r>
            <a:endParaRPr lang="en-US" sz="1900" dirty="false"/>
          </a:p>
        </p:txBody>
      </p:sp>
      <p:pic>
        <p:nvPicPr>
          <p:cNvPr id="14" name="Image 4" descr="preencoded.png">
            <a:hlinkClick r:id="rId5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5" name="图片 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318135" y="1616075"/>
            <a:ext cx="4876165" cy="51682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1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19" name="Text 2"/>
          <p:cNvSpPr/>
          <p:nvPr/>
        </p:nvSpPr>
        <p:spPr>
          <a:xfrm>
            <a:off x="6350437" y="1117521"/>
            <a:ext cx="6172200" cy="77152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解决字体问题</a:t>
            </a:r>
            <a:endParaRPr lang="en-US" sz="4860" dirty="false"/>
          </a:p>
        </p:txBody>
      </p:sp>
      <p:sp>
        <p:nvSpPr>
          <p:cNvPr id="20" name="Shape 3"/>
          <p:cNvSpPr/>
          <p:nvPr/>
        </p:nvSpPr>
        <p:spPr>
          <a:xfrm>
            <a:off x="6350437" y="2259330"/>
            <a:ext cx="7415927" cy="1453039"/>
          </a:xfrm>
          <a:prstGeom prst="roundRect">
            <a:avLst>
              <a:gd name="adj" fmla="val 7136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1" name="Text 4"/>
          <p:cNvSpPr/>
          <p:nvPr/>
        </p:nvSpPr>
        <p:spPr>
          <a:xfrm>
            <a:off x="6612493" y="2521387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识别字体</a:t>
            </a:r>
            <a:endParaRPr lang="en-US" sz="2430" dirty="false"/>
          </a:p>
        </p:txBody>
      </p:sp>
      <p:sp>
        <p:nvSpPr>
          <p:cNvPr id="22" name="Text 5"/>
          <p:cNvSpPr/>
          <p:nvPr/>
        </p:nvSpPr>
        <p:spPr>
          <a:xfrm>
            <a:off x="6612493" y="3055263"/>
            <a:ext cx="689181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通过即刻App确认海报使用"</a:t>
            </a:r>
            <a:r>
              <a:rPr lang="en-US" sz="1945" dirty="false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京华老宋体</a:t>
            </a: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"。</a:t>
            </a:r>
            <a:endParaRPr lang="en-US" sz="1945" dirty="false"/>
          </a:p>
        </p:txBody>
      </p:sp>
      <p:sp>
        <p:nvSpPr>
          <p:cNvPr id="23" name="Shape 6"/>
          <p:cNvSpPr/>
          <p:nvPr/>
        </p:nvSpPr>
        <p:spPr>
          <a:xfrm>
            <a:off x="6350437" y="3959185"/>
            <a:ext cx="7415927" cy="1453039"/>
          </a:xfrm>
          <a:prstGeom prst="roundRect">
            <a:avLst>
              <a:gd name="adj" fmla="val 7136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4" name="Text 7"/>
          <p:cNvSpPr/>
          <p:nvPr/>
        </p:nvSpPr>
        <p:spPr>
          <a:xfrm>
            <a:off x="6612493" y="4221242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下载字体</a:t>
            </a:r>
            <a:endParaRPr lang="en-US" sz="2430" dirty="false"/>
          </a:p>
        </p:txBody>
      </p:sp>
      <p:sp>
        <p:nvSpPr>
          <p:cNvPr id="25" name="Text 8"/>
          <p:cNvSpPr/>
          <p:nvPr/>
        </p:nvSpPr>
        <p:spPr>
          <a:xfrm>
            <a:off x="6612493" y="4755118"/>
            <a:ext cx="689181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在网上找到并下载ttf文件。</a:t>
            </a:r>
            <a:endParaRPr lang="en-US" sz="1945" dirty="false"/>
          </a:p>
        </p:txBody>
      </p:sp>
      <p:sp>
        <p:nvSpPr>
          <p:cNvPr id="26" name="Shape 9"/>
          <p:cNvSpPr/>
          <p:nvPr/>
        </p:nvSpPr>
        <p:spPr>
          <a:xfrm>
            <a:off x="6350437" y="5659041"/>
            <a:ext cx="7415927" cy="1453039"/>
          </a:xfrm>
          <a:prstGeom prst="roundRect">
            <a:avLst>
              <a:gd name="adj" fmla="val 7136"/>
            </a:avLst>
          </a:prstGeom>
          <a:solidFill>
            <a:srgbClr val="EBE2E0"/>
          </a:solidFill>
          <a:ln w="1524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27" name="Text 10"/>
          <p:cNvSpPr/>
          <p:nvPr/>
        </p:nvSpPr>
        <p:spPr>
          <a:xfrm>
            <a:off x="6612493" y="5921097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文件大小</a:t>
            </a:r>
            <a:endParaRPr lang="en-US" sz="2430" dirty="false"/>
          </a:p>
        </p:txBody>
      </p:sp>
      <p:sp>
        <p:nvSpPr>
          <p:cNvPr id="28" name="Text 11"/>
          <p:cNvSpPr/>
          <p:nvPr/>
        </p:nvSpPr>
        <p:spPr>
          <a:xfrm>
            <a:off x="6612493" y="6454973"/>
            <a:ext cx="6891814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发现字体文件体积较大，</a:t>
            </a:r>
            <a:r>
              <a:rPr lang="en-US" sz="1945" dirty="false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达35M。</a:t>
            </a:r>
            <a:endParaRPr lang="en-US" sz="1945" dirty="false">
              <a:solidFill>
                <a:srgbClr val="FF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9" name="Image 1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30" name="图片 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65300"/>
            <a:ext cx="6235700" cy="5346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3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34" name="Text 2"/>
          <p:cNvSpPr/>
          <p:nvPr/>
        </p:nvSpPr>
        <p:spPr>
          <a:xfrm>
            <a:off x="864037" y="2598063"/>
            <a:ext cx="6172200" cy="77152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优化背景效果</a:t>
            </a:r>
            <a:endParaRPr lang="en-US" sz="4860" dirty="false"/>
          </a:p>
        </p:txBody>
      </p:sp>
      <p:sp>
        <p:nvSpPr>
          <p:cNvPr id="35" name="Text 3"/>
          <p:cNvSpPr/>
          <p:nvPr/>
        </p:nvSpPr>
        <p:spPr>
          <a:xfrm>
            <a:off x="864037" y="398668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寻找素材</a:t>
            </a:r>
            <a:endParaRPr lang="en-US" sz="2430" dirty="false"/>
          </a:p>
        </p:txBody>
      </p:sp>
      <p:sp>
        <p:nvSpPr>
          <p:cNvPr id="36" name="Text 4"/>
          <p:cNvSpPr/>
          <p:nvPr/>
        </p:nvSpPr>
        <p:spPr>
          <a:xfrm>
            <a:off x="864037" y="4619268"/>
            <a:ext cx="3898821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在网上找到合适的纸质背景图片。</a:t>
            </a:r>
            <a:endParaRPr lang="en-US" sz="1945" dirty="false"/>
          </a:p>
        </p:txBody>
      </p:sp>
      <p:sp>
        <p:nvSpPr>
          <p:cNvPr id="37" name="Text 5"/>
          <p:cNvSpPr/>
          <p:nvPr/>
        </p:nvSpPr>
        <p:spPr>
          <a:xfrm>
            <a:off x="5372695" y="398668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AI协助</a:t>
            </a:r>
            <a:endParaRPr lang="en-US" sz="2430" dirty="false"/>
          </a:p>
        </p:txBody>
      </p:sp>
      <p:sp>
        <p:nvSpPr>
          <p:cNvPr id="38" name="Text 6"/>
          <p:cNvSpPr/>
          <p:nvPr/>
        </p:nvSpPr>
        <p:spPr>
          <a:xfrm>
            <a:off x="5372695" y="4619268"/>
            <a:ext cx="3898821" cy="790099"/>
          </a:xfrm>
          <a:prstGeom prst="rect">
            <a:avLst/>
          </a:prstGeom>
          <a:noFill/>
        </p:spPr>
        <p:txBody>
          <a:bodyPr wrap="squar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请求kimi chat编写背景CSS，实现纸质效果和颜色渐变。</a:t>
            </a:r>
            <a:endParaRPr lang="en-US" sz="1945" dirty="false"/>
          </a:p>
        </p:txBody>
      </p:sp>
      <p:sp>
        <p:nvSpPr>
          <p:cNvPr id="39" name="Text 7"/>
          <p:cNvSpPr/>
          <p:nvPr/>
        </p:nvSpPr>
        <p:spPr>
          <a:xfrm>
            <a:off x="9881354" y="398668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效果对比</a:t>
            </a:r>
            <a:endParaRPr lang="en-US" sz="2430" dirty="false"/>
          </a:p>
        </p:txBody>
      </p:sp>
      <p:sp>
        <p:nvSpPr>
          <p:cNvPr id="40" name="Text 8"/>
          <p:cNvSpPr/>
          <p:nvPr/>
        </p:nvSpPr>
        <p:spPr>
          <a:xfrm>
            <a:off x="9881354" y="4619268"/>
            <a:ext cx="3898821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kimi chat的效果优于其他AI助手。</a:t>
            </a:r>
            <a:endParaRPr lang="en-US" sz="1945" dirty="false"/>
          </a:p>
        </p:txBody>
      </p:sp>
      <p:pic>
        <p:nvPicPr>
          <p:cNvPr id="41" name="Image 0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4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45" name="Text 2"/>
          <p:cNvSpPr/>
          <p:nvPr/>
        </p:nvSpPr>
        <p:spPr>
          <a:xfrm>
            <a:off x="864037" y="2598063"/>
            <a:ext cx="6172200" cy="77152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优化背景效果</a:t>
            </a:r>
            <a:endParaRPr lang="en-US" sz="4860" dirty="false"/>
          </a:p>
        </p:txBody>
      </p:sp>
      <p:sp>
        <p:nvSpPr>
          <p:cNvPr id="46" name="Text 3"/>
          <p:cNvSpPr/>
          <p:nvPr/>
        </p:nvSpPr>
        <p:spPr>
          <a:xfrm>
            <a:off x="864037" y="398668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寻找素材</a:t>
            </a:r>
            <a:endParaRPr lang="en-US" sz="2430" dirty="false"/>
          </a:p>
        </p:txBody>
      </p:sp>
      <p:sp>
        <p:nvSpPr>
          <p:cNvPr id="47" name="Text 4"/>
          <p:cNvSpPr/>
          <p:nvPr/>
        </p:nvSpPr>
        <p:spPr>
          <a:xfrm>
            <a:off x="864037" y="4619268"/>
            <a:ext cx="3898821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在网上找到合适的纸质背景图片。</a:t>
            </a:r>
            <a:endParaRPr lang="en-US" sz="1945" dirty="false"/>
          </a:p>
        </p:txBody>
      </p:sp>
      <p:sp>
        <p:nvSpPr>
          <p:cNvPr id="48" name="Text 5"/>
          <p:cNvSpPr/>
          <p:nvPr/>
        </p:nvSpPr>
        <p:spPr>
          <a:xfrm>
            <a:off x="5372695" y="398668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AI协助</a:t>
            </a:r>
            <a:endParaRPr lang="en-US" sz="2430" dirty="false"/>
          </a:p>
        </p:txBody>
      </p:sp>
      <p:sp>
        <p:nvSpPr>
          <p:cNvPr id="49" name="Text 6"/>
          <p:cNvSpPr/>
          <p:nvPr/>
        </p:nvSpPr>
        <p:spPr>
          <a:xfrm>
            <a:off x="5372695" y="4619268"/>
            <a:ext cx="3898821" cy="790099"/>
          </a:xfrm>
          <a:prstGeom prst="rect">
            <a:avLst/>
          </a:prstGeom>
          <a:noFill/>
        </p:spPr>
        <p:txBody>
          <a:bodyPr wrap="squar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请求kimi chat编写背景CSS，实现纸质效果和颜色渐变。</a:t>
            </a:r>
            <a:endParaRPr lang="en-US" sz="1945" dirty="false"/>
          </a:p>
        </p:txBody>
      </p:sp>
      <p:sp>
        <p:nvSpPr>
          <p:cNvPr id="50" name="Text 7"/>
          <p:cNvSpPr/>
          <p:nvPr/>
        </p:nvSpPr>
        <p:spPr>
          <a:xfrm>
            <a:off x="9881354" y="398668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效果对比</a:t>
            </a:r>
            <a:endParaRPr lang="en-US" sz="2430" dirty="false"/>
          </a:p>
        </p:txBody>
      </p:sp>
      <p:pic>
        <p:nvPicPr>
          <p:cNvPr id="51" name="Image 0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52" name="图片 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735" y="-41910"/>
            <a:ext cx="7334885" cy="83991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5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56" name="Text 2"/>
          <p:cNvSpPr/>
          <p:nvPr/>
        </p:nvSpPr>
        <p:spPr>
          <a:xfrm>
            <a:off x="864037" y="2598063"/>
            <a:ext cx="6172200" cy="771525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优化背景效果</a:t>
            </a:r>
            <a:endParaRPr lang="en-US" sz="4860" dirty="false"/>
          </a:p>
        </p:txBody>
      </p:sp>
      <p:sp>
        <p:nvSpPr>
          <p:cNvPr id="57" name="Text 3"/>
          <p:cNvSpPr/>
          <p:nvPr/>
        </p:nvSpPr>
        <p:spPr>
          <a:xfrm>
            <a:off x="864037" y="398668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寻找素材</a:t>
            </a:r>
            <a:endParaRPr lang="en-US" sz="2430" dirty="false"/>
          </a:p>
        </p:txBody>
      </p:sp>
      <p:sp>
        <p:nvSpPr>
          <p:cNvPr id="58" name="Text 4"/>
          <p:cNvSpPr/>
          <p:nvPr/>
        </p:nvSpPr>
        <p:spPr>
          <a:xfrm>
            <a:off x="864037" y="4619268"/>
            <a:ext cx="3898821" cy="395049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在网上找到合适的纸质背景图片。</a:t>
            </a:r>
            <a:endParaRPr lang="en-US" sz="1945" dirty="false"/>
          </a:p>
        </p:txBody>
      </p:sp>
      <p:sp>
        <p:nvSpPr>
          <p:cNvPr id="59" name="Text 5"/>
          <p:cNvSpPr/>
          <p:nvPr/>
        </p:nvSpPr>
        <p:spPr>
          <a:xfrm>
            <a:off x="10475555" y="599599"/>
            <a:ext cx="3086100" cy="38576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243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AI协助</a:t>
            </a:r>
            <a:endParaRPr lang="en-US" sz="2430" dirty="false"/>
          </a:p>
        </p:txBody>
      </p:sp>
      <p:sp>
        <p:nvSpPr>
          <p:cNvPr id="60" name="Text 6"/>
          <p:cNvSpPr/>
          <p:nvPr/>
        </p:nvSpPr>
        <p:spPr>
          <a:xfrm>
            <a:off x="10475555" y="1232178"/>
            <a:ext cx="3898821" cy="790099"/>
          </a:xfrm>
          <a:prstGeom prst="rect">
            <a:avLst/>
          </a:prstGeom>
          <a:noFill/>
        </p:spPr>
        <p:txBody>
          <a:bodyPr wrap="square" rtlCol="false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请求</a:t>
            </a:r>
            <a:r>
              <a:rPr lang="en-US" sz="1945" dirty="false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kimi chat</a:t>
            </a:r>
            <a:r>
              <a:rPr lang="en-US" sz="1945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编写背景CSS，实现纸质效果和颜色渐变。</a:t>
            </a:r>
            <a:endParaRPr lang="en-US" sz="1945" dirty="false"/>
          </a:p>
        </p:txBody>
      </p:sp>
      <p:pic>
        <p:nvPicPr>
          <p:cNvPr id="61" name="Image 0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62" name="图片 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" y="985520"/>
            <a:ext cx="9869170" cy="5502910"/>
          </a:xfrm>
          <a:prstGeom prst="rect">
            <a:avLst/>
          </a:prstGeom>
        </p:spPr>
      </p:pic>
      <p:pic>
        <p:nvPicPr>
          <p:cNvPr id="63" name="图片 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0" y="3315970"/>
            <a:ext cx="3641725" cy="30010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6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pic>
        <p:nvPicPr>
          <p:cNvPr id="67" name="Image 0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68" name="图片 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635" y="0"/>
            <a:ext cx="39604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71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pic>
        <p:nvPicPr>
          <p:cNvPr id="72" name="Image 0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73" name="Text 2"/>
          <p:cNvSpPr/>
          <p:nvPr/>
        </p:nvSpPr>
        <p:spPr>
          <a:xfrm>
            <a:off x="6282571" y="626031"/>
            <a:ext cx="5687616" cy="710922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8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实现AI文案生成</a:t>
            </a:r>
            <a:endParaRPr lang="en-US" sz="4480" dirty="false"/>
          </a:p>
        </p:txBody>
      </p:sp>
      <p:sp>
        <p:nvSpPr>
          <p:cNvPr id="74" name="Shape 3"/>
          <p:cNvSpPr/>
          <p:nvPr/>
        </p:nvSpPr>
        <p:spPr>
          <a:xfrm>
            <a:off x="6608564" y="1678186"/>
            <a:ext cx="30480" cy="5925264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75" name="Shape 4"/>
          <p:cNvSpPr/>
          <p:nvPr/>
        </p:nvSpPr>
        <p:spPr>
          <a:xfrm>
            <a:off x="6849249" y="2174677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76" name="Shape 5"/>
          <p:cNvSpPr/>
          <p:nvPr/>
        </p:nvSpPr>
        <p:spPr>
          <a:xfrm>
            <a:off x="6367879" y="1934051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77" name="Text 6"/>
          <p:cNvSpPr/>
          <p:nvPr/>
        </p:nvSpPr>
        <p:spPr>
          <a:xfrm>
            <a:off x="6559927" y="2019300"/>
            <a:ext cx="127635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1</a:t>
            </a:r>
            <a:endParaRPr lang="en-US" sz="2685" dirty="false"/>
          </a:p>
        </p:txBody>
      </p:sp>
      <p:sp>
        <p:nvSpPr>
          <p:cNvPr id="78" name="Text 7"/>
          <p:cNvSpPr/>
          <p:nvPr/>
        </p:nvSpPr>
        <p:spPr>
          <a:xfrm>
            <a:off x="7875032" y="1905595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编写接口</a:t>
            </a:r>
            <a:endParaRPr lang="en-US" sz="2240" dirty="false"/>
          </a:p>
        </p:txBody>
      </p:sp>
      <p:sp>
        <p:nvSpPr>
          <p:cNvPr id="79" name="Text 8"/>
          <p:cNvSpPr/>
          <p:nvPr/>
        </p:nvSpPr>
        <p:spPr>
          <a:xfrm>
            <a:off x="7875032" y="2397562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请Claude编写调用GPT-4的JavaScript接口。</a:t>
            </a:r>
            <a:endParaRPr lang="en-US" sz="1790" dirty="false"/>
          </a:p>
        </p:txBody>
      </p:sp>
      <p:sp>
        <p:nvSpPr>
          <p:cNvPr id="80" name="Shape 9"/>
          <p:cNvSpPr/>
          <p:nvPr/>
        </p:nvSpPr>
        <p:spPr>
          <a:xfrm>
            <a:off x="6849249" y="3712845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81" name="Shape 10"/>
          <p:cNvSpPr/>
          <p:nvPr/>
        </p:nvSpPr>
        <p:spPr>
          <a:xfrm>
            <a:off x="6367879" y="3472220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82" name="Text 11"/>
          <p:cNvSpPr/>
          <p:nvPr/>
        </p:nvSpPr>
        <p:spPr>
          <a:xfrm>
            <a:off x="6536829" y="3557468"/>
            <a:ext cx="173950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2</a:t>
            </a:r>
            <a:endParaRPr lang="en-US" sz="2685" dirty="false"/>
          </a:p>
        </p:txBody>
      </p:sp>
      <p:sp>
        <p:nvSpPr>
          <p:cNvPr id="83" name="Text 12"/>
          <p:cNvSpPr/>
          <p:nvPr/>
        </p:nvSpPr>
        <p:spPr>
          <a:xfrm>
            <a:off x="7875032" y="3443764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文案生成</a:t>
            </a:r>
            <a:endParaRPr lang="en-US" sz="2240" dirty="false"/>
          </a:p>
        </p:txBody>
      </p:sp>
      <p:sp>
        <p:nvSpPr>
          <p:cNvPr id="84" name="Text 13"/>
          <p:cNvSpPr/>
          <p:nvPr/>
        </p:nvSpPr>
        <p:spPr>
          <a:xfrm>
            <a:off x="7875032" y="3935730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根据用户输入主题，生成伍迪艾伦风格文案。</a:t>
            </a:r>
            <a:endParaRPr lang="en-US" sz="1790" dirty="false"/>
          </a:p>
        </p:txBody>
      </p:sp>
      <p:sp>
        <p:nvSpPr>
          <p:cNvPr id="85" name="Shape 14"/>
          <p:cNvSpPr/>
          <p:nvPr/>
        </p:nvSpPr>
        <p:spPr>
          <a:xfrm>
            <a:off x="6849249" y="5251013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86" name="Shape 15"/>
          <p:cNvSpPr/>
          <p:nvPr/>
        </p:nvSpPr>
        <p:spPr>
          <a:xfrm>
            <a:off x="6367879" y="5010388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87" name="Text 16"/>
          <p:cNvSpPr/>
          <p:nvPr/>
        </p:nvSpPr>
        <p:spPr>
          <a:xfrm>
            <a:off x="6540520" y="5095637"/>
            <a:ext cx="166568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3</a:t>
            </a:r>
            <a:endParaRPr lang="en-US" sz="2685" dirty="false"/>
          </a:p>
        </p:txBody>
      </p:sp>
      <p:sp>
        <p:nvSpPr>
          <p:cNvPr id="88" name="Text 17"/>
          <p:cNvSpPr/>
          <p:nvPr/>
        </p:nvSpPr>
        <p:spPr>
          <a:xfrm>
            <a:off x="7875032" y="4981932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自动替换</a:t>
            </a:r>
            <a:endParaRPr lang="en-US" sz="2240" dirty="false"/>
          </a:p>
        </p:txBody>
      </p:sp>
      <p:sp>
        <p:nvSpPr>
          <p:cNvPr id="89" name="Text 18"/>
          <p:cNvSpPr/>
          <p:nvPr/>
        </p:nvSpPr>
        <p:spPr>
          <a:xfrm>
            <a:off x="7875032" y="5473898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使用JavaScript自动替换海报文字。</a:t>
            </a:r>
            <a:endParaRPr lang="en-US" sz="1790" dirty="false"/>
          </a:p>
        </p:txBody>
      </p:sp>
      <p:sp>
        <p:nvSpPr>
          <p:cNvPr id="90" name="Shape 19"/>
          <p:cNvSpPr/>
          <p:nvPr/>
        </p:nvSpPr>
        <p:spPr>
          <a:xfrm>
            <a:off x="6849249" y="6789182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91" name="Shape 20"/>
          <p:cNvSpPr/>
          <p:nvPr/>
        </p:nvSpPr>
        <p:spPr>
          <a:xfrm>
            <a:off x="6367879" y="6548557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92" name="Text 21"/>
          <p:cNvSpPr/>
          <p:nvPr/>
        </p:nvSpPr>
        <p:spPr>
          <a:xfrm>
            <a:off x="6531828" y="6633805"/>
            <a:ext cx="183952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4</a:t>
            </a:r>
            <a:endParaRPr lang="en-US" sz="2685" dirty="false"/>
          </a:p>
        </p:txBody>
      </p:sp>
      <p:sp>
        <p:nvSpPr>
          <p:cNvPr id="93" name="Text 22"/>
          <p:cNvSpPr/>
          <p:nvPr/>
        </p:nvSpPr>
        <p:spPr>
          <a:xfrm>
            <a:off x="7875032" y="6520101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添加动画</a:t>
            </a:r>
            <a:endParaRPr lang="en-US" sz="2240" dirty="false"/>
          </a:p>
        </p:txBody>
      </p:sp>
      <p:sp>
        <p:nvSpPr>
          <p:cNvPr id="94" name="Text 23"/>
          <p:cNvSpPr/>
          <p:nvPr/>
        </p:nvSpPr>
        <p:spPr>
          <a:xfrm>
            <a:off x="7875032" y="7012067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实现文字流式输出和对齐动画效果。</a:t>
            </a:r>
            <a:endParaRPr lang="en-US" sz="1790" dirty="false"/>
          </a:p>
        </p:txBody>
      </p:sp>
      <p:pic>
        <p:nvPicPr>
          <p:cNvPr id="95" name="Image 1" descr="preencoded.png">
            <a:hlinkClick r:id="rId3"/>
          </p:cNvPr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9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99" name="Text 2"/>
          <p:cNvSpPr/>
          <p:nvPr/>
        </p:nvSpPr>
        <p:spPr>
          <a:xfrm>
            <a:off x="6282571" y="626031"/>
            <a:ext cx="5687616" cy="710922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8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实现AI文案生成</a:t>
            </a:r>
            <a:endParaRPr lang="en-US" sz="4480" dirty="false"/>
          </a:p>
        </p:txBody>
      </p:sp>
      <p:sp>
        <p:nvSpPr>
          <p:cNvPr id="100" name="Shape 3"/>
          <p:cNvSpPr/>
          <p:nvPr/>
        </p:nvSpPr>
        <p:spPr>
          <a:xfrm>
            <a:off x="6608564" y="1678186"/>
            <a:ext cx="30480" cy="5925264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01" name="Shape 4"/>
          <p:cNvSpPr/>
          <p:nvPr/>
        </p:nvSpPr>
        <p:spPr>
          <a:xfrm>
            <a:off x="6849249" y="2174677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02" name="Shape 5"/>
          <p:cNvSpPr/>
          <p:nvPr/>
        </p:nvSpPr>
        <p:spPr>
          <a:xfrm>
            <a:off x="6367879" y="1934051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03" name="Text 6"/>
          <p:cNvSpPr/>
          <p:nvPr/>
        </p:nvSpPr>
        <p:spPr>
          <a:xfrm>
            <a:off x="6559927" y="2019300"/>
            <a:ext cx="127635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1</a:t>
            </a:r>
            <a:endParaRPr lang="en-US" sz="2685" dirty="false"/>
          </a:p>
        </p:txBody>
      </p:sp>
      <p:sp>
        <p:nvSpPr>
          <p:cNvPr id="104" name="Text 7"/>
          <p:cNvSpPr/>
          <p:nvPr/>
        </p:nvSpPr>
        <p:spPr>
          <a:xfrm>
            <a:off x="7875032" y="1905595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FF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编写接口</a:t>
            </a:r>
            <a:endParaRPr lang="en-US" sz="2240" b="true" dirty="false">
              <a:solidFill>
                <a:srgbClr val="FF0000"/>
              </a:solidFill>
              <a:latin typeface="Crimson Pro" pitchFamily="34" charset="0"/>
              <a:ea typeface="Crimson Pro" pitchFamily="34" charset="-122"/>
              <a:cs typeface="Crimson Pro" pitchFamily="34" charset="-120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7875032" y="2397562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请Claude编写调用GPT-4的JavaScript接口。</a:t>
            </a:r>
            <a:endParaRPr lang="en-US" sz="1790" dirty="false">
              <a:solidFill>
                <a:srgbClr val="FF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6849249" y="3712845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07" name="Shape 10"/>
          <p:cNvSpPr/>
          <p:nvPr/>
        </p:nvSpPr>
        <p:spPr>
          <a:xfrm>
            <a:off x="6367879" y="3472220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08" name="Text 11"/>
          <p:cNvSpPr/>
          <p:nvPr/>
        </p:nvSpPr>
        <p:spPr>
          <a:xfrm>
            <a:off x="6536829" y="3557468"/>
            <a:ext cx="173950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2</a:t>
            </a:r>
            <a:endParaRPr lang="en-US" sz="2685" dirty="false"/>
          </a:p>
        </p:txBody>
      </p:sp>
      <p:sp>
        <p:nvSpPr>
          <p:cNvPr id="109" name="Text 12"/>
          <p:cNvSpPr/>
          <p:nvPr/>
        </p:nvSpPr>
        <p:spPr>
          <a:xfrm>
            <a:off x="7875032" y="3443764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文案生成</a:t>
            </a:r>
            <a:endParaRPr lang="en-US" sz="2240" dirty="false"/>
          </a:p>
        </p:txBody>
      </p:sp>
      <p:sp>
        <p:nvSpPr>
          <p:cNvPr id="110" name="Text 13"/>
          <p:cNvSpPr/>
          <p:nvPr/>
        </p:nvSpPr>
        <p:spPr>
          <a:xfrm>
            <a:off x="7875032" y="3935730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根据用户输入主题，生成伍迪艾伦风格文案。</a:t>
            </a:r>
            <a:endParaRPr lang="en-US" sz="1790" dirty="false"/>
          </a:p>
        </p:txBody>
      </p:sp>
      <p:sp>
        <p:nvSpPr>
          <p:cNvPr id="111" name="Shape 14"/>
          <p:cNvSpPr/>
          <p:nvPr/>
        </p:nvSpPr>
        <p:spPr>
          <a:xfrm>
            <a:off x="6849249" y="5251013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12" name="Shape 15"/>
          <p:cNvSpPr/>
          <p:nvPr/>
        </p:nvSpPr>
        <p:spPr>
          <a:xfrm>
            <a:off x="6367879" y="5010388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13" name="Text 16"/>
          <p:cNvSpPr/>
          <p:nvPr/>
        </p:nvSpPr>
        <p:spPr>
          <a:xfrm>
            <a:off x="6540520" y="5095637"/>
            <a:ext cx="166568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3</a:t>
            </a:r>
            <a:endParaRPr lang="en-US" sz="2685" dirty="false"/>
          </a:p>
        </p:txBody>
      </p:sp>
      <p:sp>
        <p:nvSpPr>
          <p:cNvPr id="114" name="Text 17"/>
          <p:cNvSpPr/>
          <p:nvPr/>
        </p:nvSpPr>
        <p:spPr>
          <a:xfrm>
            <a:off x="7875032" y="4981932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自动替换</a:t>
            </a:r>
            <a:endParaRPr lang="en-US" sz="2240" dirty="false"/>
          </a:p>
        </p:txBody>
      </p:sp>
      <p:sp>
        <p:nvSpPr>
          <p:cNvPr id="115" name="Text 18"/>
          <p:cNvSpPr/>
          <p:nvPr/>
        </p:nvSpPr>
        <p:spPr>
          <a:xfrm>
            <a:off x="7875032" y="5473898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使用JavaScript自动替换海报文字。</a:t>
            </a:r>
            <a:endParaRPr lang="en-US" sz="1790" dirty="false"/>
          </a:p>
        </p:txBody>
      </p:sp>
      <p:sp>
        <p:nvSpPr>
          <p:cNvPr id="116" name="Shape 19"/>
          <p:cNvSpPr/>
          <p:nvPr/>
        </p:nvSpPr>
        <p:spPr>
          <a:xfrm>
            <a:off x="6849249" y="6789182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17" name="Shape 20"/>
          <p:cNvSpPr/>
          <p:nvPr/>
        </p:nvSpPr>
        <p:spPr>
          <a:xfrm>
            <a:off x="6367879" y="6548557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18" name="Text 21"/>
          <p:cNvSpPr/>
          <p:nvPr/>
        </p:nvSpPr>
        <p:spPr>
          <a:xfrm>
            <a:off x="6531828" y="6633805"/>
            <a:ext cx="183952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4</a:t>
            </a:r>
            <a:endParaRPr lang="en-US" sz="2685" dirty="false"/>
          </a:p>
        </p:txBody>
      </p:sp>
      <p:sp>
        <p:nvSpPr>
          <p:cNvPr id="119" name="Text 22"/>
          <p:cNvSpPr/>
          <p:nvPr/>
        </p:nvSpPr>
        <p:spPr>
          <a:xfrm>
            <a:off x="7875032" y="6520101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添加动画</a:t>
            </a:r>
            <a:endParaRPr lang="en-US" sz="2240" dirty="false"/>
          </a:p>
        </p:txBody>
      </p:sp>
      <p:sp>
        <p:nvSpPr>
          <p:cNvPr id="120" name="Text 23"/>
          <p:cNvSpPr/>
          <p:nvPr/>
        </p:nvSpPr>
        <p:spPr>
          <a:xfrm>
            <a:off x="7875032" y="7012067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实现文字流式输出和对齐动画效果。</a:t>
            </a:r>
            <a:endParaRPr lang="en-US" sz="1790" dirty="false"/>
          </a:p>
        </p:txBody>
      </p:sp>
      <p:pic>
        <p:nvPicPr>
          <p:cNvPr id="121" name="Image 1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22" name="图片 2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75" y="888365"/>
            <a:ext cx="512191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12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126" name="Text 2"/>
          <p:cNvSpPr/>
          <p:nvPr/>
        </p:nvSpPr>
        <p:spPr>
          <a:xfrm>
            <a:off x="6282571" y="626031"/>
            <a:ext cx="5687616" cy="710922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8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实现AI文案生成</a:t>
            </a:r>
            <a:endParaRPr lang="en-US" sz="4480" dirty="false"/>
          </a:p>
        </p:txBody>
      </p:sp>
      <p:sp>
        <p:nvSpPr>
          <p:cNvPr id="127" name="Shape 3"/>
          <p:cNvSpPr/>
          <p:nvPr/>
        </p:nvSpPr>
        <p:spPr>
          <a:xfrm>
            <a:off x="6608564" y="1678186"/>
            <a:ext cx="30480" cy="5925264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28" name="Shape 4"/>
          <p:cNvSpPr/>
          <p:nvPr/>
        </p:nvSpPr>
        <p:spPr>
          <a:xfrm>
            <a:off x="6849249" y="2174677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29" name="Shape 5"/>
          <p:cNvSpPr/>
          <p:nvPr/>
        </p:nvSpPr>
        <p:spPr>
          <a:xfrm>
            <a:off x="6367879" y="1934051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30" name="Text 6"/>
          <p:cNvSpPr/>
          <p:nvPr/>
        </p:nvSpPr>
        <p:spPr>
          <a:xfrm>
            <a:off x="6559927" y="2019300"/>
            <a:ext cx="127635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1</a:t>
            </a:r>
            <a:endParaRPr lang="en-US" sz="2685" dirty="false"/>
          </a:p>
        </p:txBody>
      </p:sp>
      <p:sp>
        <p:nvSpPr>
          <p:cNvPr id="131" name="Text 7"/>
          <p:cNvSpPr/>
          <p:nvPr/>
        </p:nvSpPr>
        <p:spPr>
          <a:xfrm>
            <a:off x="7875032" y="1905595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FF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编写接口</a:t>
            </a:r>
            <a:endParaRPr lang="en-US" sz="2240" b="true" dirty="false">
              <a:solidFill>
                <a:srgbClr val="FF0000"/>
              </a:solidFill>
              <a:latin typeface="Crimson Pro" pitchFamily="34" charset="0"/>
              <a:ea typeface="Crimson Pro" pitchFamily="34" charset="-122"/>
              <a:cs typeface="Crimson Pro" pitchFamily="34" charset="-120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7875032" y="2397562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请Claude编写调用GPT-4的JavaScript接口。</a:t>
            </a:r>
            <a:endParaRPr lang="en-US" sz="1790" dirty="false">
              <a:solidFill>
                <a:srgbClr val="FF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6849249" y="3712845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34" name="Shape 10"/>
          <p:cNvSpPr/>
          <p:nvPr/>
        </p:nvSpPr>
        <p:spPr>
          <a:xfrm>
            <a:off x="6367879" y="3472220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35" name="Text 11"/>
          <p:cNvSpPr/>
          <p:nvPr/>
        </p:nvSpPr>
        <p:spPr>
          <a:xfrm>
            <a:off x="6536829" y="3557468"/>
            <a:ext cx="173950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2</a:t>
            </a:r>
            <a:endParaRPr lang="en-US" sz="2685" dirty="false"/>
          </a:p>
        </p:txBody>
      </p:sp>
      <p:sp>
        <p:nvSpPr>
          <p:cNvPr id="136" name="Text 12"/>
          <p:cNvSpPr/>
          <p:nvPr/>
        </p:nvSpPr>
        <p:spPr>
          <a:xfrm>
            <a:off x="7875032" y="3443764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文案生成</a:t>
            </a:r>
            <a:endParaRPr lang="en-US" sz="2240" dirty="false"/>
          </a:p>
        </p:txBody>
      </p:sp>
      <p:sp>
        <p:nvSpPr>
          <p:cNvPr id="137" name="Text 13"/>
          <p:cNvSpPr/>
          <p:nvPr/>
        </p:nvSpPr>
        <p:spPr>
          <a:xfrm>
            <a:off x="7875032" y="3935730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根据用户输入主题，生成伍迪艾伦风格文案。</a:t>
            </a:r>
            <a:endParaRPr lang="en-US" sz="1790" dirty="false"/>
          </a:p>
        </p:txBody>
      </p:sp>
      <p:sp>
        <p:nvSpPr>
          <p:cNvPr id="138" name="Shape 14"/>
          <p:cNvSpPr/>
          <p:nvPr/>
        </p:nvSpPr>
        <p:spPr>
          <a:xfrm>
            <a:off x="6849249" y="5251013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39" name="Shape 15"/>
          <p:cNvSpPr/>
          <p:nvPr/>
        </p:nvSpPr>
        <p:spPr>
          <a:xfrm>
            <a:off x="6367879" y="5010388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40" name="Text 16"/>
          <p:cNvSpPr/>
          <p:nvPr/>
        </p:nvSpPr>
        <p:spPr>
          <a:xfrm>
            <a:off x="6540520" y="5095637"/>
            <a:ext cx="166568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3</a:t>
            </a:r>
            <a:endParaRPr lang="en-US" sz="2685" dirty="false"/>
          </a:p>
        </p:txBody>
      </p:sp>
      <p:sp>
        <p:nvSpPr>
          <p:cNvPr id="141" name="Text 17"/>
          <p:cNvSpPr/>
          <p:nvPr/>
        </p:nvSpPr>
        <p:spPr>
          <a:xfrm>
            <a:off x="7875032" y="4981932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自动替换</a:t>
            </a:r>
            <a:endParaRPr lang="en-US" sz="2240" dirty="false"/>
          </a:p>
        </p:txBody>
      </p:sp>
      <p:sp>
        <p:nvSpPr>
          <p:cNvPr id="142" name="Text 18"/>
          <p:cNvSpPr/>
          <p:nvPr/>
        </p:nvSpPr>
        <p:spPr>
          <a:xfrm>
            <a:off x="7875032" y="5473898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使用JavaScript自动替换海报文字。</a:t>
            </a:r>
            <a:endParaRPr lang="en-US" sz="1790" dirty="false"/>
          </a:p>
        </p:txBody>
      </p:sp>
      <p:sp>
        <p:nvSpPr>
          <p:cNvPr id="143" name="Shape 19"/>
          <p:cNvSpPr/>
          <p:nvPr/>
        </p:nvSpPr>
        <p:spPr>
          <a:xfrm>
            <a:off x="6849249" y="6789182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D1C8C6"/>
          </a:solidFill>
        </p:spPr>
        <p:txBody>
          <a:bodyPr/>
          <a:p/>
        </p:txBody>
      </p:sp>
      <p:sp>
        <p:nvSpPr>
          <p:cNvPr id="144" name="Shape 20"/>
          <p:cNvSpPr/>
          <p:nvPr/>
        </p:nvSpPr>
        <p:spPr>
          <a:xfrm>
            <a:off x="6367879" y="6548557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45" name="Text 21"/>
          <p:cNvSpPr/>
          <p:nvPr/>
        </p:nvSpPr>
        <p:spPr>
          <a:xfrm>
            <a:off x="6531828" y="6633805"/>
            <a:ext cx="183952" cy="341233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ctr">
              <a:lnSpc>
                <a:spcPts val="2685"/>
              </a:lnSpc>
              <a:buNone/>
            </a:pPr>
            <a:r>
              <a:rPr lang="en-US" sz="268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4</a:t>
            </a:r>
            <a:endParaRPr lang="en-US" sz="2685" dirty="false"/>
          </a:p>
        </p:txBody>
      </p:sp>
      <p:sp>
        <p:nvSpPr>
          <p:cNvPr id="146" name="Text 22"/>
          <p:cNvSpPr/>
          <p:nvPr/>
        </p:nvSpPr>
        <p:spPr>
          <a:xfrm>
            <a:off x="7875032" y="6520101"/>
            <a:ext cx="2843808" cy="355521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40" b="true" dirty="false">
                <a:solidFill>
                  <a:srgbClr val="FF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添加动画</a:t>
            </a:r>
            <a:endParaRPr lang="en-US" sz="2240" b="true" dirty="false">
              <a:solidFill>
                <a:srgbClr val="FF0000"/>
              </a:solidFill>
              <a:latin typeface="Crimson Pro" pitchFamily="34" charset="0"/>
              <a:ea typeface="Crimson Pro" pitchFamily="34" charset="-122"/>
              <a:cs typeface="Crimson Pro" pitchFamily="34" charset="-120"/>
            </a:endParaRPr>
          </a:p>
        </p:txBody>
      </p:sp>
      <p:sp>
        <p:nvSpPr>
          <p:cNvPr id="147" name="Text 23"/>
          <p:cNvSpPr/>
          <p:nvPr/>
        </p:nvSpPr>
        <p:spPr>
          <a:xfrm>
            <a:off x="7875032" y="7012067"/>
            <a:ext cx="5959197" cy="36397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790" dirty="false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实现文字流式输出和对齐动画效果。</a:t>
            </a:r>
            <a:endParaRPr lang="en-US" sz="1790" dirty="false">
              <a:solidFill>
                <a:srgbClr val="FF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148" name="Image 1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49" name="图片 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5499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152" name="Shape 1"/>
          <p:cNvSpPr/>
          <p:nvPr/>
        </p:nvSpPr>
        <p:spPr>
          <a:xfrm>
            <a:off x="0" y="0"/>
            <a:ext cx="14630400" cy="8231624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153" name="Text 2"/>
          <p:cNvSpPr/>
          <p:nvPr/>
        </p:nvSpPr>
        <p:spPr>
          <a:xfrm>
            <a:off x="6246257" y="597098"/>
            <a:ext cx="5428298" cy="678418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5345"/>
              </a:lnSpc>
              <a:buNone/>
            </a:pPr>
            <a:r>
              <a:rPr lang="en-US" sz="427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部署和分享</a:t>
            </a:r>
            <a:endParaRPr lang="en-US" sz="4275" dirty="false"/>
          </a:p>
        </p:txBody>
      </p:sp>
      <p:pic>
        <p:nvPicPr>
          <p:cNvPr id="154" name="Image 1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257" y="1601153"/>
            <a:ext cx="542806" cy="542806"/>
          </a:xfrm>
          <a:prstGeom prst="rect">
            <a:avLst/>
          </a:prstGeom>
        </p:spPr>
      </p:pic>
      <p:sp>
        <p:nvSpPr>
          <p:cNvPr id="155" name="Text 3"/>
          <p:cNvSpPr/>
          <p:nvPr/>
        </p:nvSpPr>
        <p:spPr>
          <a:xfrm>
            <a:off x="6246257" y="2361009"/>
            <a:ext cx="2714149" cy="339328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670"/>
              </a:lnSpc>
              <a:buNone/>
            </a:pPr>
            <a:r>
              <a:rPr lang="en-US" sz="213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部署平台</a:t>
            </a:r>
            <a:endParaRPr lang="en-US" sz="2135" dirty="false"/>
          </a:p>
        </p:txBody>
      </p:sp>
      <p:sp>
        <p:nvSpPr>
          <p:cNvPr id="156" name="Text 4"/>
          <p:cNvSpPr/>
          <p:nvPr/>
        </p:nvSpPr>
        <p:spPr>
          <a:xfrm>
            <a:off x="6246257" y="2830592"/>
            <a:ext cx="7624286" cy="34742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171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将项目部署到surge.sh静态网页托管平台。</a:t>
            </a:r>
            <a:endParaRPr lang="en-US" sz="1710" dirty="false"/>
          </a:p>
        </p:txBody>
      </p:sp>
      <p:pic>
        <p:nvPicPr>
          <p:cNvPr id="157" name="Image 2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257" y="3829407"/>
            <a:ext cx="542806" cy="542806"/>
          </a:xfrm>
          <a:prstGeom prst="rect">
            <a:avLst/>
          </a:prstGeom>
        </p:spPr>
      </p:pic>
      <p:sp>
        <p:nvSpPr>
          <p:cNvPr id="158" name="Text 5"/>
          <p:cNvSpPr/>
          <p:nvPr/>
        </p:nvSpPr>
        <p:spPr>
          <a:xfrm>
            <a:off x="6246257" y="4589264"/>
            <a:ext cx="2714149" cy="339328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670"/>
              </a:lnSpc>
              <a:buNone/>
            </a:pPr>
            <a:r>
              <a:rPr lang="en-US" sz="213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分享体验</a:t>
            </a:r>
            <a:endParaRPr lang="en-US" sz="2135" dirty="false"/>
          </a:p>
        </p:txBody>
      </p:sp>
      <p:sp>
        <p:nvSpPr>
          <p:cNvPr id="159" name="Text 6"/>
          <p:cNvSpPr/>
          <p:nvPr/>
        </p:nvSpPr>
        <p:spPr>
          <a:xfrm>
            <a:off x="6246257" y="5058847"/>
            <a:ext cx="7624286" cy="34742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171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邀请感兴趣的人体验AI海报生成。</a:t>
            </a:r>
            <a:endParaRPr lang="en-US" sz="1710" dirty="false"/>
          </a:p>
        </p:txBody>
      </p:sp>
      <p:pic>
        <p:nvPicPr>
          <p:cNvPr id="160" name="Image 3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257" y="6057662"/>
            <a:ext cx="542806" cy="542806"/>
          </a:xfrm>
          <a:prstGeom prst="rect">
            <a:avLst/>
          </a:prstGeom>
        </p:spPr>
      </p:pic>
      <p:sp>
        <p:nvSpPr>
          <p:cNvPr id="161" name="Text 7"/>
          <p:cNvSpPr/>
          <p:nvPr/>
        </p:nvSpPr>
        <p:spPr>
          <a:xfrm>
            <a:off x="6246257" y="6817519"/>
            <a:ext cx="2714149" cy="339328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670"/>
              </a:lnSpc>
              <a:buNone/>
            </a:pPr>
            <a:r>
              <a:rPr lang="en-US" sz="213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交流讨论</a:t>
            </a:r>
            <a:endParaRPr lang="en-US" sz="2135" dirty="false"/>
          </a:p>
        </p:txBody>
      </p:sp>
      <p:sp>
        <p:nvSpPr>
          <p:cNvPr id="162" name="Text 8"/>
          <p:cNvSpPr/>
          <p:nvPr/>
        </p:nvSpPr>
        <p:spPr>
          <a:xfrm>
            <a:off x="6246257" y="7287101"/>
            <a:ext cx="7624286" cy="347424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1710" dirty="false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欢迎通过微信号botreboot交流AI编程。</a:t>
            </a:r>
            <a:endParaRPr lang="en-US" sz="1710" dirty="false"/>
          </a:p>
        </p:txBody>
      </p:sp>
      <p:pic>
        <p:nvPicPr>
          <p:cNvPr id="163" name="Image 4" descr="preencoded.png">
            <a:hlinkClick r:id="rId5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64" name="图片 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59416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179" name="Shape 1"/>
          <p:cNvSpPr/>
          <p:nvPr/>
        </p:nvSpPr>
        <p:spPr>
          <a:xfrm>
            <a:off x="0" y="0"/>
            <a:ext cx="14630400" cy="8231624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sp>
        <p:nvSpPr>
          <p:cNvPr id="180" name="Text 2"/>
          <p:cNvSpPr/>
          <p:nvPr/>
        </p:nvSpPr>
        <p:spPr>
          <a:xfrm>
            <a:off x="7168912" y="409773"/>
            <a:ext cx="5428298" cy="678418"/>
          </a:xfrm>
          <a:prstGeom prst="rect">
            <a:avLst/>
          </a:prstGeom>
          <a:noFill/>
        </p:spPr>
        <p:txBody>
          <a:bodyPr wrap="none" rtlCol="false" anchor="t"/>
          <a:lstStyle/>
          <a:p>
            <a:pPr marL="0" indent="0">
              <a:lnSpc>
                <a:spcPts val="5345"/>
              </a:lnSpc>
              <a:buNone/>
            </a:pPr>
            <a:r>
              <a:rPr lang="zh-CN" altLang="en-US" sz="427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欢迎加入我的社群或者</a:t>
            </a:r>
            <a:r>
              <a:rPr lang="zh-CN" altLang="en-US" sz="4275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微信</a:t>
            </a:r>
            <a:endParaRPr lang="zh-CN" altLang="en-US" sz="4275" b="true" dirty="false">
              <a:solidFill>
                <a:srgbClr val="443728"/>
              </a:solidFill>
              <a:latin typeface="Crimson Pro" pitchFamily="34" charset="0"/>
              <a:ea typeface="Crimson Pro" pitchFamily="34" charset="-122"/>
              <a:cs typeface="Crimson Pro" pitchFamily="34" charset="-120"/>
            </a:endParaRPr>
          </a:p>
        </p:txBody>
      </p:sp>
      <p:pic>
        <p:nvPicPr>
          <p:cNvPr id="181" name="Image 1" descr="preencoded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257" y="1601153"/>
            <a:ext cx="542806" cy="542806"/>
          </a:xfrm>
          <a:prstGeom prst="rect">
            <a:avLst/>
          </a:prstGeom>
        </p:spPr>
      </p:pic>
      <p:pic>
        <p:nvPicPr>
          <p:cNvPr id="182" name="Image 2" descr="preencoded.png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257" y="3829407"/>
            <a:ext cx="542806" cy="542806"/>
          </a:xfrm>
          <a:prstGeom prst="rect">
            <a:avLst/>
          </a:prstGeom>
        </p:spPr>
      </p:pic>
      <p:pic>
        <p:nvPicPr>
          <p:cNvPr id="183" name="Image 3" descr="preencoded.png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257" y="6057662"/>
            <a:ext cx="542806" cy="542806"/>
          </a:xfrm>
          <a:prstGeom prst="rect">
            <a:avLst/>
          </a:prstGeom>
        </p:spPr>
      </p:pic>
      <p:pic>
        <p:nvPicPr>
          <p:cNvPr id="184" name="Image 4" descr="preencoded.png">
            <a:hlinkClick r:id="rId5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85" name="图片 15" descr="星球优惠券 (4)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150495" y="409575"/>
            <a:ext cx="6096000" cy="7410450"/>
          </a:xfrm>
          <a:prstGeom prst="rect">
            <a:avLst/>
          </a:prstGeom>
        </p:spPr>
      </p:pic>
      <p:pic>
        <p:nvPicPr>
          <p:cNvPr id="186" name="图片 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0" y="1348105"/>
            <a:ext cx="4717415" cy="6471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  <p:txBody>
          <a:bodyPr/>
          <a:p/>
        </p:txBody>
      </p:sp>
      <p:sp>
        <p:nvSpPr>
          <p:cNvPr id="189" name="Shape 1"/>
          <p:cNvSpPr/>
          <p:nvPr/>
        </p:nvSpPr>
        <p:spPr>
          <a:xfrm>
            <a:off x="0" y="0"/>
            <a:ext cx="14630400" cy="8231624"/>
          </a:xfrm>
          <a:prstGeom prst="rect">
            <a:avLst/>
          </a:prstGeom>
          <a:solidFill>
            <a:srgbClr val="FFFCFA"/>
          </a:solidFill>
        </p:spPr>
        <p:txBody>
          <a:bodyPr/>
          <a:p/>
        </p:txBody>
      </p:sp>
      <p:pic>
        <p:nvPicPr>
          <p:cNvPr id="190" name="Image 4" descr="preencoded.png">
            <a:hlinkClick r:id="rId2"/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191" name="Text 2"/>
          <p:cNvSpPr/>
          <p:nvPr/>
        </p:nvSpPr>
        <p:spPr>
          <a:xfrm>
            <a:off x="4848622" y="3436818"/>
            <a:ext cx="5428298" cy="678418"/>
          </a:xfrm>
          <a:prstGeom prst="rect">
            <a:avLst/>
          </a:prstGeom>
          <a:noFill/>
        </p:spPr>
        <p:txBody>
          <a:bodyPr wrap="none" rtlCol="false" anchor="t"/>
          <a:p>
            <a:pPr marL="0" indent="0">
              <a:lnSpc>
                <a:spcPts val="5345"/>
              </a:lnSpc>
              <a:buNone/>
            </a:pPr>
            <a:r>
              <a:rPr lang="zh-CN" altLang="en-US" sz="4800" b="true" dirty="false">
                <a:solidFill>
                  <a:srgbClr val="443728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谢谢！</a:t>
            </a:r>
            <a:endParaRPr lang="zh-CN" altLang="en-US" sz="4800" b="true" dirty="false">
              <a:solidFill>
                <a:srgbClr val="443728"/>
              </a:solidFill>
              <a:latin typeface="Crimson Pro" pitchFamily="34" charset="0"/>
              <a:ea typeface="Crimson Pro" pitchFamily="34" charset="-122"/>
              <a:cs typeface="Crimson Pro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2025-01-03T16:03:59Z</dcterms:created>
  <dcterms:modified xsi:type="dcterms:W3CDTF">2025-01-03T16:03:59Z</dcterms:modified>
</cp:coreProperties>
</file>